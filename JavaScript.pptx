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y="6858000" cx="9144000"/>
  <p:notesSz cx="9144000" cy="6858000"/>
  <p:embeddedFontLst>
    <p:embeddedFont>
      <p:font typeface="Inter"/>
      <p:regular r:id="rId89"/>
      <p:bold r:id="rId90"/>
      <p:italic r:id="rId91"/>
      <p:boldItalic r:id="rId92"/>
    </p:embeddedFont>
    <p:embeddedFont>
      <p:font typeface="Google Sans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97" roundtripDataSignature="AMtx7mgWYfNv6P4KeSq8V3P6bFzqbFyN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0A126C-DCAF-4070-844D-0827E0D11744}">
  <a:tblStyle styleId="{8B0A126C-DCAF-4070-844D-0827E0D117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GoogleSans-italic.fntdata"/><Relationship Id="rId94" Type="http://schemas.openxmlformats.org/officeDocument/2006/relationships/font" Target="fonts/GoogleSans-bold.fntdata"/><Relationship Id="rId97" Type="http://customschemas.google.com/relationships/presentationmetadata" Target="metadata"/><Relationship Id="rId96" Type="http://schemas.openxmlformats.org/officeDocument/2006/relationships/font" Target="fonts/Google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Inter-italic.fntdata"/><Relationship Id="rId90" Type="http://schemas.openxmlformats.org/officeDocument/2006/relationships/font" Target="fonts/Inter-bold.fntdata"/><Relationship Id="rId93" Type="http://schemas.openxmlformats.org/officeDocument/2006/relationships/font" Target="fonts/GoogleSans-regular.fntdata"/><Relationship Id="rId92" Type="http://schemas.openxmlformats.org/officeDocument/2006/relationships/font" Target="fonts/Int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font" Target="fonts/Inter-regular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1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1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2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2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2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2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2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2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2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p2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p2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2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p3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3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3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3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3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3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3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3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3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3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" name="Google Shape;449;p4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4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8" name="Google Shape;468;p4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p4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p4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1" name="Google Shape;491;p4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9" name="Google Shape;499;p4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7" name="Google Shape;507;p4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4" name="Google Shape;514;p4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2" name="Google Shape;522;p4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3" name="Google Shape;533;p5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p5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8" name="Google Shape;548;p5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5" name="Google Shape;555;p5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2" name="Google Shape;562;p5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7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8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8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8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8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8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8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2" name="Google Shape;612;p5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p5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8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8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8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p5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1" name="Google Shape;661;p5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9" name="Google Shape;669;p6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7" name="Google Shape;677;p6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5" name="Google Shape;685;p6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3" name="Google Shape;693;p6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1" name="Google Shape;701;p6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9" name="Google Shape;709;p6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7" name="Google Shape;717;p6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5" name="Google Shape;725;p6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3" name="Google Shape;733;p6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1" name="Google Shape;741;p7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9" name="Google Shape;749;p7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7" name="Google Shape;757;p7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8" name="Google Shape;768;p5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6" name="Google Shape;776;p6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0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5" name="Google Shape;25;p90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1"/>
          <p:cNvSpPr txBox="1"/>
          <p:nvPr>
            <p:ph type="title"/>
          </p:nvPr>
        </p:nvSpPr>
        <p:spPr>
          <a:xfrm>
            <a:off x="3187064" y="1208277"/>
            <a:ext cx="2769870" cy="636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  <a:defRPr b="0" i="0" sz="4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/>
        </p:txBody>
      </p:sp>
      <p:sp>
        <p:nvSpPr>
          <p:cNvPr id="30" name="Google Shape;30;p91"/>
          <p:cNvSpPr txBox="1"/>
          <p:nvPr>
            <p:ph idx="1" type="body"/>
          </p:nvPr>
        </p:nvSpPr>
        <p:spPr>
          <a:xfrm>
            <a:off x="841044" y="1180940"/>
            <a:ext cx="7046595" cy="459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Trebuchet MS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/>
        </p:txBody>
      </p:sp>
      <p:sp>
        <p:nvSpPr>
          <p:cNvPr id="32" name="Google Shape;32;p9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Trebuchet MS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/>
        </p:txBody>
      </p:sp>
      <p:sp>
        <p:nvSpPr>
          <p:cNvPr id="33" name="Google Shape;33;p9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1_Title Only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2"/>
          <p:cNvSpPr txBox="1"/>
          <p:nvPr>
            <p:ph type="title"/>
          </p:nvPr>
        </p:nvSpPr>
        <p:spPr>
          <a:xfrm>
            <a:off x="3187064" y="1208277"/>
            <a:ext cx="2769870" cy="636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  <a:defRPr b="0" i="0" sz="4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/>
        </p:txBody>
      </p:sp>
      <p:sp>
        <p:nvSpPr>
          <p:cNvPr id="36" name="Google Shape;36;p9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Trebuchet MS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/>
        </p:txBody>
      </p:sp>
      <p:sp>
        <p:nvSpPr>
          <p:cNvPr id="37" name="Google Shape;37;p9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Trebuchet MS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/>
        </p:txBody>
      </p:sp>
      <p:sp>
        <p:nvSpPr>
          <p:cNvPr id="38" name="Google Shape;38;p9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1_Two Content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4"/>
          <p:cNvSpPr txBox="1"/>
          <p:nvPr>
            <p:ph type="title"/>
          </p:nvPr>
        </p:nvSpPr>
        <p:spPr>
          <a:xfrm>
            <a:off x="3187064" y="1208277"/>
            <a:ext cx="2769870" cy="636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  <a:defRPr b="0" i="0" sz="4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/>
        </p:txBody>
      </p:sp>
      <p:sp>
        <p:nvSpPr>
          <p:cNvPr id="45" name="Google Shape;45;p94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4"/>
          <p:cNvSpPr txBox="1"/>
          <p:nvPr>
            <p:ph idx="2" type="body"/>
          </p:nvPr>
        </p:nvSpPr>
        <p:spPr>
          <a:xfrm>
            <a:off x="4957317" y="2336139"/>
            <a:ext cx="2970529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Trebuchet MS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/>
        </p:txBody>
      </p:sp>
      <p:sp>
        <p:nvSpPr>
          <p:cNvPr id="48" name="Google Shape;48;p9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Trebuchet MS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/>
        </p:txBody>
      </p:sp>
      <p:sp>
        <p:nvSpPr>
          <p:cNvPr id="49" name="Google Shape;49;p94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96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95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52" name="Google Shape;52;p95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95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" name="Google Shape;54;p95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95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95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15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5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</p:sp>
        <p:sp>
          <p:nvSpPr>
            <p:cNvPr id="58" name="Google Shape;58;p95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5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5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95"/>
            <p:cNvSpPr/>
            <p:nvPr/>
          </p:nvSpPr>
          <p:spPr>
            <a:xfrm>
              <a:off x="-8466" y="-8468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</p:sp>
      </p:grpSp>
      <p:sp>
        <p:nvSpPr>
          <p:cNvPr id="62" name="Google Shape;62;p95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5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9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6"/>
          <p:cNvSpPr txBox="1"/>
          <p:nvPr>
            <p:ph type="title"/>
          </p:nvPr>
        </p:nvSpPr>
        <p:spPr>
          <a:xfrm>
            <a:off x="609598" y="2700868"/>
            <a:ext cx="6347715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6"/>
          <p:cNvSpPr txBox="1"/>
          <p:nvPr>
            <p:ph idx="1" type="body"/>
          </p:nvPr>
        </p:nvSpPr>
        <p:spPr>
          <a:xfrm>
            <a:off x="609598" y="4527448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9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7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7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76" name="Google Shape;76;p97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77" name="Google Shape;77;p9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8"/>
          <p:cNvSpPr txBox="1"/>
          <p:nvPr>
            <p:ph idx="1" type="body"/>
          </p:nvPr>
        </p:nvSpPr>
        <p:spPr>
          <a:xfrm>
            <a:off x="609599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83" name="Google Shape;83;p98"/>
          <p:cNvSpPr txBox="1"/>
          <p:nvPr>
            <p:ph idx="2" type="body"/>
          </p:nvPr>
        </p:nvSpPr>
        <p:spPr>
          <a:xfrm>
            <a:off x="609599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4" name="Google Shape;84;p98"/>
          <p:cNvSpPr txBox="1"/>
          <p:nvPr>
            <p:ph idx="3" type="body"/>
          </p:nvPr>
        </p:nvSpPr>
        <p:spPr>
          <a:xfrm>
            <a:off x="3866640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85" name="Google Shape;85;p98"/>
          <p:cNvSpPr txBox="1"/>
          <p:nvPr>
            <p:ph idx="4" type="body"/>
          </p:nvPr>
        </p:nvSpPr>
        <p:spPr>
          <a:xfrm>
            <a:off x="3866640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6" name="Google Shape;86;p98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9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9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0"/>
          <p:cNvSpPr txBox="1"/>
          <p:nvPr>
            <p:ph type="title"/>
          </p:nvPr>
        </p:nvSpPr>
        <p:spPr>
          <a:xfrm>
            <a:off x="609599" y="1498604"/>
            <a:ext cx="2790182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00"/>
          <p:cNvSpPr txBox="1"/>
          <p:nvPr>
            <p:ph idx="1" type="body"/>
          </p:nvPr>
        </p:nvSpPr>
        <p:spPr>
          <a:xfrm>
            <a:off x="3571275" y="514925"/>
            <a:ext cx="3386037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7" name="Google Shape;97;p100"/>
          <p:cNvSpPr txBox="1"/>
          <p:nvPr>
            <p:ph idx="2" type="body"/>
          </p:nvPr>
        </p:nvSpPr>
        <p:spPr>
          <a:xfrm>
            <a:off x="609599" y="2777069"/>
            <a:ext cx="2790182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05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9pPr>
          </a:lstStyle>
          <a:p/>
        </p:txBody>
      </p:sp>
      <p:sp>
        <p:nvSpPr>
          <p:cNvPr id="98" name="Google Shape;98;p100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0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1"/>
          <p:cNvSpPr txBox="1"/>
          <p:nvPr>
            <p:ph type="title"/>
          </p:nvPr>
        </p:nvSpPr>
        <p:spPr>
          <a:xfrm>
            <a:off x="609599" y="4800600"/>
            <a:ext cx="634771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01"/>
          <p:cNvSpPr/>
          <p:nvPr>
            <p:ph idx="2" type="pic"/>
          </p:nvPr>
        </p:nvSpPr>
        <p:spPr>
          <a:xfrm>
            <a:off x="609599" y="609600"/>
            <a:ext cx="6347714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01"/>
          <p:cNvSpPr txBox="1"/>
          <p:nvPr>
            <p:ph idx="1" type="body"/>
          </p:nvPr>
        </p:nvSpPr>
        <p:spPr>
          <a:xfrm>
            <a:off x="609599" y="5367338"/>
            <a:ext cx="6347714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5" name="Google Shape;105;p10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2"/>
          <p:cNvSpPr txBox="1"/>
          <p:nvPr>
            <p:ph type="title"/>
          </p:nvPr>
        </p:nvSpPr>
        <p:spPr>
          <a:xfrm>
            <a:off x="609600" y="609600"/>
            <a:ext cx="6347714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02"/>
          <p:cNvSpPr txBox="1"/>
          <p:nvPr>
            <p:ph idx="1" type="body"/>
          </p:nvPr>
        </p:nvSpPr>
        <p:spPr>
          <a:xfrm>
            <a:off x="609600" y="4470400"/>
            <a:ext cx="6347714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10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0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0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3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03"/>
          <p:cNvSpPr txBox="1"/>
          <p:nvPr>
            <p:ph idx="1" type="body"/>
          </p:nvPr>
        </p:nvSpPr>
        <p:spPr>
          <a:xfrm>
            <a:off x="1101074" y="3632200"/>
            <a:ext cx="54198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7" name="Google Shape;117;p103"/>
          <p:cNvSpPr txBox="1"/>
          <p:nvPr>
            <p:ph idx="2" type="body"/>
          </p:nvPr>
        </p:nvSpPr>
        <p:spPr>
          <a:xfrm>
            <a:off x="609598" y="4470400"/>
            <a:ext cx="6347715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10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0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0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2" name="Google Shape;122;p103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4"/>
          <p:cNvSpPr txBox="1"/>
          <p:nvPr>
            <p:ph type="title"/>
          </p:nvPr>
        </p:nvSpPr>
        <p:spPr>
          <a:xfrm>
            <a:off x="609598" y="1931988"/>
            <a:ext cx="6347715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04"/>
          <p:cNvSpPr txBox="1"/>
          <p:nvPr>
            <p:ph idx="1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6" name="Google Shape;126;p10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0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0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5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05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2" name="Google Shape;132;p105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3" name="Google Shape;133;p10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0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05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105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6"/>
          <p:cNvSpPr txBox="1"/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06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1" name="Google Shape;141;p106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p10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0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0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07"/>
          <p:cNvSpPr txBox="1"/>
          <p:nvPr>
            <p:ph idx="1" type="body"/>
          </p:nvPr>
        </p:nvSpPr>
        <p:spPr>
          <a:xfrm rot="5400000">
            <a:off x="1843070" y="927120"/>
            <a:ext cx="3880773" cy="634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8" name="Google Shape;148;p10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0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0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8"/>
          <p:cNvSpPr txBox="1"/>
          <p:nvPr>
            <p:ph type="title"/>
          </p:nvPr>
        </p:nvSpPr>
        <p:spPr>
          <a:xfrm rot="5400000">
            <a:off x="3840993" y="2745920"/>
            <a:ext cx="5251451" cy="97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08"/>
          <p:cNvSpPr txBox="1"/>
          <p:nvPr>
            <p:ph idx="1" type="body"/>
          </p:nvPr>
        </p:nvSpPr>
        <p:spPr>
          <a:xfrm rot="5400000">
            <a:off x="581386" y="637813"/>
            <a:ext cx="5251451" cy="5195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54" name="Google Shape;154;p108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0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0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1pPr>
            <a:lvl2pPr indent="0" lvl="1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2pPr>
            <a:lvl3pPr indent="0" lvl="2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3pPr>
            <a:lvl4pPr indent="0" lvl="3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4pPr>
            <a:lvl5pPr indent="0" lvl="4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5pPr>
            <a:lvl6pPr indent="0" lvl="5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6pPr>
            <a:lvl7pPr indent="0" lvl="6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7pPr>
            <a:lvl8pPr indent="0" lvl="7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8pPr>
            <a:lvl9pPr indent="0" lvl="8" marL="19685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/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89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Google Shape;7;p89"/>
            <p:cNvSpPr/>
            <p:nvPr/>
          </p:nvSpPr>
          <p:spPr>
            <a:xfrm>
              <a:off x="-8467" y="4013200"/>
              <a:ext cx="457200" cy="2853267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" name="Google Shape;8;p89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" name="Google Shape;9;p89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" name="Google Shape;10;p89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89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89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15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89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</p:sp>
        <p:sp>
          <p:nvSpPr>
            <p:cNvPr id="14" name="Google Shape;14;p89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89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89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8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89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89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8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8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9685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19685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19685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19685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19685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19685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19685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19685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19685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196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 txBox="1"/>
          <p:nvPr/>
        </p:nvSpPr>
        <p:spPr>
          <a:xfrm>
            <a:off x="2671064" y="2286457"/>
            <a:ext cx="3501390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800"/>
              <a:buFont typeface="Times New Roman"/>
              <a:buNone/>
            </a:pPr>
            <a:r>
              <a:rPr b="0" i="1" lang="en-US" sz="4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Javascript: Basics</a:t>
            </a:r>
            <a:endParaRPr b="0" i="0" sz="4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"/>
          <p:cNvSpPr txBox="1"/>
          <p:nvPr>
            <p:ph type="title"/>
          </p:nvPr>
        </p:nvSpPr>
        <p:spPr>
          <a:xfrm>
            <a:off x="3430015" y="935228"/>
            <a:ext cx="22904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Introduction</a:t>
            </a:r>
            <a:endParaRPr sz="3600"/>
          </a:p>
        </p:txBody>
      </p:sp>
      <p:sp>
        <p:nvSpPr>
          <p:cNvPr id="168" name="Google Shape;168;p2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917244" y="1609725"/>
            <a:ext cx="7542530" cy="392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is a scripting language most often used for client-  side web development.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6985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JavaScript supported in the browsers typically support  additional objects.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Window, Frame, Form, DOM object, etc.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6350" rtl="0" algn="l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brands or/and different  versions of	browsers may  support different implementation of JavaScript.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not fully compatible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JScript is the Microsoft version of JavaScript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>
            <p:ph type="title"/>
          </p:nvPr>
        </p:nvSpPr>
        <p:spPr>
          <a:xfrm>
            <a:off x="804226" y="740899"/>
            <a:ext cx="69984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What can we do with JavaScript?</a:t>
            </a:r>
            <a:endParaRPr/>
          </a:p>
        </p:txBody>
      </p:sp>
      <p:sp>
        <p:nvSpPr>
          <p:cNvPr id="176" name="Google Shape;176;p3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728225" y="1370600"/>
            <a:ext cx="8130900" cy="5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287019" lvl="0" marL="299085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interactive user interface in a web page (e.g., menu,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pop-up alert, windows, etc.)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Manipulating web content dynamically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the content and style of an element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images on a page without page reload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Hide/Show contents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HTML contents on the fly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validation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AJAX (e.g. Google complete)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"/>
          <p:cNvSpPr txBox="1"/>
          <p:nvPr>
            <p:ph type="title"/>
          </p:nvPr>
        </p:nvSpPr>
        <p:spPr>
          <a:xfrm>
            <a:off x="1336147" y="818850"/>
            <a:ext cx="523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Why Study JavaScript?</a:t>
            </a:r>
            <a:endParaRPr sz="3600"/>
          </a:p>
        </p:txBody>
      </p:sp>
      <p:sp>
        <p:nvSpPr>
          <p:cNvPr id="183" name="Google Shape;183;p4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348275" y="1385850"/>
            <a:ext cx="8624700" cy="4700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287019" lvl="0" marL="299085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	is	one	 of	the	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	languages	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	web  d</a:t>
            </a:r>
            <a:r>
              <a:rPr b="0" i="0" lang="en-US" sz="2400" u="sng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evelopers </a:t>
            </a:r>
            <a:r>
              <a:rPr b="1" i="0" lang="en-US" sz="2400" u="sng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</a:t>
            </a:r>
            <a:r>
              <a:rPr b="0" i="0" lang="en-US" sz="2400" u="sng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learn:						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527685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define the content of web pages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52768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specify the layout of web pages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52768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program the behavior of web pages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pages are not the only place where JavaScript is used.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13958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desktop and server programs use JavaScript.	Node.js is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best known.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8255" rtl="0" algn="l">
              <a:lnSpc>
                <a:spcPct val="107916"/>
              </a:lnSpc>
              <a:spcBef>
                <a:spcPts val="121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	databases,	like	MongoDB	and	CouchDB,	also	use  JavaScript as their programming language.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 txBox="1"/>
          <p:nvPr>
            <p:ph type="title"/>
          </p:nvPr>
        </p:nvSpPr>
        <p:spPr>
          <a:xfrm>
            <a:off x="2931890" y="474925"/>
            <a:ext cx="2241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Syntax</a:t>
            </a:r>
            <a:endParaRPr sz="3600"/>
          </a:p>
        </p:txBody>
      </p:sp>
      <p:sp>
        <p:nvSpPr>
          <p:cNvPr id="191" name="Google Shape;191;p5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41051" y="1455252"/>
            <a:ext cx="7884900" cy="4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can be implemented using JavaScript statements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are placed within the 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&lt;script&gt;... &lt;/script&gt;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rebuchet MS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just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place the 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tags, containing your  JavaScript, anywhere within your web page, but it is  normally recommended that you should keep it within  the 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tags.</a:t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&lt;script&gt;	tag	alerts	the	browser	program	to	start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interpreting all the text between these tags as a script.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 txBox="1"/>
          <p:nvPr>
            <p:ph type="title"/>
          </p:nvPr>
        </p:nvSpPr>
        <p:spPr>
          <a:xfrm>
            <a:off x="3171824" y="397847"/>
            <a:ext cx="339153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A Simple Script</a:t>
            </a:r>
            <a:endParaRPr sz="3600"/>
          </a:p>
        </p:txBody>
      </p:sp>
      <p:grpSp>
        <p:nvGrpSpPr>
          <p:cNvPr id="198" name="Google Shape;198;p6"/>
          <p:cNvGrpSpPr/>
          <p:nvPr/>
        </p:nvGrpSpPr>
        <p:grpSpPr>
          <a:xfrm>
            <a:off x="763523" y="1601724"/>
            <a:ext cx="7467600" cy="4114800"/>
            <a:chOff x="763523" y="1601724"/>
            <a:chExt cx="7467600" cy="4114800"/>
          </a:xfrm>
        </p:grpSpPr>
        <p:sp>
          <p:nvSpPr>
            <p:cNvPr id="199" name="Google Shape;199;p6"/>
            <p:cNvSpPr/>
            <p:nvPr/>
          </p:nvSpPr>
          <p:spPr>
            <a:xfrm>
              <a:off x="763523" y="1601724"/>
              <a:ext cx="7467600" cy="4114800"/>
            </a:xfrm>
            <a:custGeom>
              <a:rect b="b" l="l" r="r" t="t"/>
              <a:pathLst>
                <a:path extrusionOk="0" h="4114800" w="7467600">
                  <a:moveTo>
                    <a:pt x="74676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7467600" y="4114800"/>
                  </a:lnTo>
                  <a:lnTo>
                    <a:pt x="74676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763523" y="1601724"/>
              <a:ext cx="7467600" cy="4114800"/>
            </a:xfrm>
            <a:custGeom>
              <a:rect b="b" l="l" r="r" t="t"/>
              <a:pathLst>
                <a:path extrusionOk="0" h="4114800" w="7467600">
                  <a:moveTo>
                    <a:pt x="0" y="4114800"/>
                  </a:moveTo>
                  <a:lnTo>
                    <a:pt x="7467600" y="4114800"/>
                  </a:lnTo>
                  <a:lnTo>
                    <a:pt x="7467600" y="0"/>
                  </a:lnTo>
                  <a:lnTo>
                    <a:pt x="0" y="0"/>
                  </a:lnTo>
                  <a:lnTo>
                    <a:pt x="0" y="41148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6"/>
          <p:cNvSpPr txBox="1"/>
          <p:nvPr/>
        </p:nvSpPr>
        <p:spPr>
          <a:xfrm>
            <a:off x="7814818" y="6036193"/>
            <a:ext cx="71755" cy="143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410455" y="4191000"/>
            <a:ext cx="4276344" cy="213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841044" y="1202033"/>
            <a:ext cx="6400800" cy="4284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850">
            <a:spAutoFit/>
          </a:bodyPr>
          <a:lstStyle/>
          <a:p>
            <a:pPr indent="0" lvl="0" marL="48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Ex1.html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&lt;head&gt;&lt;title&gt;First JavaScript Page&lt;/title&gt;&lt;/head&gt;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&lt;h1&gt;First JavaScript Page&lt;/h1&gt;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62255" lvl="0" marL="274320" marR="2345055" rtl="0" algn="l">
              <a:lnSpc>
                <a:spcPct val="168235"/>
              </a:lnSpc>
              <a:spcBef>
                <a:spcPts val="209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&lt;script type="text/javascript"&gt;  </a:t>
            </a:r>
            <a:r>
              <a:rPr b="1" i="0" lang="en-US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document.write("&lt;hr&gt;");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4320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document.write("Hello World from JavaScript!");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432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document.write("&lt;hr&gt;");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>
            <p:ph type="title"/>
          </p:nvPr>
        </p:nvSpPr>
        <p:spPr>
          <a:xfrm>
            <a:off x="1393129" y="835875"/>
            <a:ext cx="4910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Enabling - Chrome</a:t>
            </a:r>
            <a:endParaRPr sz="3600"/>
          </a:p>
        </p:txBody>
      </p:sp>
      <p:sp>
        <p:nvSpPr>
          <p:cNvPr id="210" name="Google Shape;210;p7"/>
          <p:cNvSpPr txBox="1"/>
          <p:nvPr/>
        </p:nvSpPr>
        <p:spPr>
          <a:xfrm>
            <a:off x="1393125" y="1582800"/>
            <a:ext cx="67062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: Choose Setting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66825" y="2019000"/>
            <a:ext cx="7620000" cy="463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>
            <p:ph type="title"/>
          </p:nvPr>
        </p:nvSpPr>
        <p:spPr>
          <a:xfrm>
            <a:off x="709225" y="474925"/>
            <a:ext cx="7959900" cy="11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625">
            <a:spAutoFit/>
          </a:bodyPr>
          <a:lstStyle/>
          <a:p>
            <a:pPr indent="0" lvl="0" marL="38925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Enabling - Chrome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2400"/>
              <a:t>           Step 2 : Advance Setting -&gt; Privacy &amp; Security</a:t>
            </a:r>
            <a:endParaRPr sz="2400"/>
          </a:p>
        </p:txBody>
      </p:sp>
      <p:sp>
        <p:nvSpPr>
          <p:cNvPr id="218" name="Google Shape;218;p8"/>
          <p:cNvSpPr/>
          <p:nvPr/>
        </p:nvSpPr>
        <p:spPr>
          <a:xfrm>
            <a:off x="905136" y="1933800"/>
            <a:ext cx="7763989" cy="4449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 txBox="1"/>
          <p:nvPr>
            <p:ph type="title"/>
          </p:nvPr>
        </p:nvSpPr>
        <p:spPr>
          <a:xfrm>
            <a:off x="1032175" y="555500"/>
            <a:ext cx="5205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Enabling - Chrome</a:t>
            </a:r>
            <a:endParaRPr sz="3600"/>
          </a:p>
        </p:txBody>
      </p:sp>
      <p:sp>
        <p:nvSpPr>
          <p:cNvPr id="226" name="Google Shape;226;p9"/>
          <p:cNvSpPr txBox="1"/>
          <p:nvPr/>
        </p:nvSpPr>
        <p:spPr>
          <a:xfrm>
            <a:off x="841052" y="1025853"/>
            <a:ext cx="81891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: Privacy &amp; Security -&gt; Content Settings-Enable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914400" y="1778255"/>
            <a:ext cx="7315200" cy="388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 txBox="1"/>
          <p:nvPr>
            <p:ph type="title"/>
          </p:nvPr>
        </p:nvSpPr>
        <p:spPr>
          <a:xfrm>
            <a:off x="2172019" y="683899"/>
            <a:ext cx="3506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Comments</a:t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384319" y="1107098"/>
            <a:ext cx="7082100" cy="3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Line Comment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represented by double forward slashes (//). It can be used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62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and after the statement.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Multiline Comment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used to add single as well as multi line comments. So,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62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more convenient.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your code */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>
            <p:ph type="title"/>
          </p:nvPr>
        </p:nvSpPr>
        <p:spPr>
          <a:xfrm>
            <a:off x="1260145" y="417953"/>
            <a:ext cx="4714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A Simple Script</a:t>
            </a:r>
            <a:endParaRPr sz="3600"/>
          </a:p>
        </p:txBody>
      </p:sp>
      <p:sp>
        <p:nvSpPr>
          <p:cNvPr id="241" name="Google Shape;241;p11"/>
          <p:cNvSpPr txBox="1"/>
          <p:nvPr/>
        </p:nvSpPr>
        <p:spPr>
          <a:xfrm>
            <a:off x="5669905" y="3742182"/>
            <a:ext cx="235204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//Printing Message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836677" y="1656005"/>
            <a:ext cx="4568825" cy="284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826260" rtl="0" algn="l">
              <a:lnSpc>
                <a:spcPct val="138900"/>
              </a:lnSpc>
              <a:spcBef>
                <a:spcPts val="2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/* Sample Program for  comment */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080" rtl="0" algn="l">
              <a:lnSpc>
                <a:spcPct val="139000"/>
              </a:lnSpc>
              <a:spcBef>
                <a:spcPts val="2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// It is single line comment  document.write("hello javascript");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86385" marR="0" rtl="0" algn="l">
              <a:lnSpc>
                <a:spcPct val="108823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on Output device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853744" y="4599978"/>
            <a:ext cx="1184910" cy="110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841044" y="1216533"/>
            <a:ext cx="9817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Ex2.html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495800" y="4169664"/>
            <a:ext cx="4020311" cy="195986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 txBox="1"/>
          <p:nvPr>
            <p:ph type="title"/>
          </p:nvPr>
        </p:nvSpPr>
        <p:spPr>
          <a:xfrm>
            <a:off x="1278629" y="474923"/>
            <a:ext cx="4542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Basic Features</a:t>
            </a:r>
            <a:endParaRPr sz="3600"/>
          </a:p>
        </p:txBody>
      </p:sp>
      <p:sp>
        <p:nvSpPr>
          <p:cNvPr id="252" name="Google Shape;252;p12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194739" y="1089555"/>
            <a:ext cx="7238400" cy="4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use as many &lt;script&gt; tags as you like in both the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 and &lt;body&gt; and they are executed sequentially.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Script Execution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Top-down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 before &lt;body&gt;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forward reference outside a &lt;script&gt; tag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is case sensitive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Whitespace is generally ignored in JavaScript statement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	X	+ 1 same as X=X+1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/>
          <p:nvPr>
            <p:ph type="title"/>
          </p:nvPr>
        </p:nvSpPr>
        <p:spPr>
          <a:xfrm>
            <a:off x="1887055" y="778877"/>
            <a:ext cx="3668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Statements</a:t>
            </a:r>
            <a:endParaRPr sz="3600"/>
          </a:p>
        </p:txBody>
      </p:sp>
      <p:sp>
        <p:nvSpPr>
          <p:cNvPr id="259" name="Google Shape;259;p13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193040" y="1578901"/>
            <a:ext cx="7346105" cy="2861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script is made up of individual statements.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	statement	are	terminated	by	returns	/  semi-colons (;)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Prefer to use semi-colons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Statements are grouped together using curly braces { }.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control structures and functions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/>
          <p:nvPr>
            <p:ph type="title"/>
          </p:nvPr>
        </p:nvSpPr>
        <p:spPr>
          <a:xfrm>
            <a:off x="0" y="939495"/>
            <a:ext cx="7760462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981835" lvl="0" marL="1993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JavaScript Can Change HTML  Content</a:t>
            </a:r>
            <a:endParaRPr sz="3600"/>
          </a:p>
        </p:txBody>
      </p:sp>
      <p:sp>
        <p:nvSpPr>
          <p:cNvPr id="266" name="Google Shape;266;p14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54989" y="2093290"/>
            <a:ext cx="7760463" cy="2932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87019" lvl="0" marL="29908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65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many JavaScript HTML methods is </a:t>
            </a:r>
            <a:r>
              <a:rPr b="0" i="0" lang="en-US" sz="23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getElementById().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just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83992A"/>
              </a:buClr>
              <a:buSzPts val="265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example uses the method to "find" an HTML element  (with id="demo") and changes the element content  (innerHTML) to "Hello JavaScript":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just">
              <a:lnSpc>
                <a:spcPct val="100000"/>
              </a:lnSpc>
              <a:spcBef>
                <a:spcPts val="1275"/>
              </a:spcBef>
              <a:spcAft>
                <a:spcPts val="0"/>
              </a:spcAft>
              <a:buClr>
                <a:srgbClr val="83992A"/>
              </a:buClr>
              <a:buSzPts val="265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6350" rtl="0" algn="just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"Hello  JavaScript";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 txBox="1"/>
          <p:nvPr>
            <p:ph type="title"/>
          </p:nvPr>
        </p:nvSpPr>
        <p:spPr>
          <a:xfrm>
            <a:off x="406400" y="969975"/>
            <a:ext cx="7441183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65425" lvl="0" marL="277812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JavaScript Can Change HTML Styles  (CSS)</a:t>
            </a:r>
            <a:endParaRPr sz="3600"/>
          </a:p>
        </p:txBody>
      </p:sp>
      <p:sp>
        <p:nvSpPr>
          <p:cNvPr id="273" name="Google Shape;273;p15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406400" y="2500629"/>
            <a:ext cx="7610144" cy="2153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Changing the style of an HTML element, is a variant of  changing an HTML attribute: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2700" marR="20066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document.getElementById("demo").style.fontSize =  "35px";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"/>
          <p:cNvSpPr txBox="1"/>
          <p:nvPr>
            <p:ph type="title"/>
          </p:nvPr>
        </p:nvSpPr>
        <p:spPr>
          <a:xfrm>
            <a:off x="0" y="939495"/>
            <a:ext cx="7505268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634489" lvl="0" marL="1646554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JavaScript Can Hide HTML  Elements</a:t>
            </a:r>
            <a:endParaRPr sz="3600"/>
          </a:p>
        </p:txBody>
      </p:sp>
      <p:sp>
        <p:nvSpPr>
          <p:cNvPr id="280" name="Google Shape;280;p16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419404" y="2531109"/>
            <a:ext cx="6717665" cy="2153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1136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Hiding HTML elements can be done by changing the  display style: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document.getElementById("demo").style.display = "none";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"/>
          <p:cNvSpPr txBox="1"/>
          <p:nvPr>
            <p:ph type="title"/>
          </p:nvPr>
        </p:nvSpPr>
        <p:spPr>
          <a:xfrm>
            <a:off x="0" y="1020775"/>
            <a:ext cx="7340472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692275" lvl="0" marL="170433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JavaScript Can Show HTML  Elements</a:t>
            </a:r>
            <a:endParaRPr sz="3600"/>
          </a:p>
        </p:txBody>
      </p:sp>
      <p:sp>
        <p:nvSpPr>
          <p:cNvPr id="287" name="Google Shape;287;p17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172720" y="2500628"/>
            <a:ext cx="7836204" cy="179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Showing hidden HTML elements can also be done by  changing the display style: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4625" lvl="0" marL="12700" marR="5080" rtl="0" algn="l">
              <a:lnSpc>
                <a:spcPct val="1409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document.getElementById("demo").style.display = "block";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"/>
          <p:cNvSpPr txBox="1"/>
          <p:nvPr>
            <p:ph type="title"/>
          </p:nvPr>
        </p:nvSpPr>
        <p:spPr>
          <a:xfrm>
            <a:off x="994408" y="664973"/>
            <a:ext cx="6229351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Where To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706754" y="1567799"/>
            <a:ext cx="7217918" cy="363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0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in &lt;head&gt;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252525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myFunction() {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91185" marR="0" rtl="0" algn="l">
              <a:lnSpc>
                <a:spcPct val="113684"/>
              </a:lnSpc>
              <a:spcBef>
                <a:spcPts val="840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"Paragraph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changed.";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252525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"/>
          <p:cNvSpPr txBox="1"/>
          <p:nvPr>
            <p:ph type="title"/>
          </p:nvPr>
        </p:nvSpPr>
        <p:spPr>
          <a:xfrm>
            <a:off x="222248" y="441732"/>
            <a:ext cx="6554471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Where To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917244" y="1649958"/>
            <a:ext cx="6970395" cy="413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in &lt;body&gt;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</a:t>
            </a:r>
            <a:r>
              <a:rPr b="0" i="0" lang="en-US" sz="17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dy&gt;	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&lt;h1&gt;A Web Page&lt;/h1&gt;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id="demo"&gt;A Paragraph&lt;/p&gt;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&lt;button type="button" onclick="myFunction()"&gt;Try it&lt;/button&gt;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myFunction() {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731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"Paragraph changed.";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 txBox="1"/>
          <p:nvPr>
            <p:ph type="title"/>
          </p:nvPr>
        </p:nvSpPr>
        <p:spPr>
          <a:xfrm>
            <a:off x="1098295" y="166320"/>
            <a:ext cx="5465065" cy="629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External JavaScript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609600" y="1029385"/>
            <a:ext cx="6939280" cy="48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Scripts can also be placed in external files: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4327525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file: myScript.js 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myFunction() {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63500" lvl="0" marL="12700" marR="448944" rtl="0" algn="l">
              <a:lnSpc>
                <a:spcPct val="80000"/>
              </a:lnSpc>
              <a:spcBef>
                <a:spcPts val="885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"Paragraph  changed.";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27305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scripts are practical when the same code is used in many  different web pages.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files have the file extension.js.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8000"/>
              </a:lnSpc>
              <a:spcBef>
                <a:spcPts val="60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use an external script, put the name of the script file in the src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(source) attribute of a &lt;script&gt; tag: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 src="myScript.js"&gt;&lt;/script&gt;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/>
          <p:nvPr>
            <p:ph type="title"/>
          </p:nvPr>
        </p:nvSpPr>
        <p:spPr>
          <a:xfrm>
            <a:off x="670941" y="751077"/>
            <a:ext cx="7204075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Display Possibilities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670941" y="2244398"/>
            <a:ext cx="7035291" cy="2935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can "display" data in different ways: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an HTML element, using innerHTML.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the HTML output using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an alert box, using window.alert().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the browser console, using console.log().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/>
          <p:nvPr>
            <p:ph type="title"/>
          </p:nvPr>
        </p:nvSpPr>
        <p:spPr>
          <a:xfrm>
            <a:off x="305181" y="1163321"/>
            <a:ext cx="6766179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Display Possibilities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828851" y="2358388"/>
            <a:ext cx="6766179" cy="32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5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75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document.write(5 + 6);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&lt;button type="button" onclick="document.write(5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+ 6)"&gt;Try it&lt;/button&gt;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window.alert(5 + 6);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console.log(5 + 6);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 txBox="1"/>
          <p:nvPr>
            <p:ph type="title"/>
          </p:nvPr>
        </p:nvSpPr>
        <p:spPr>
          <a:xfrm>
            <a:off x="2286007" y="1082851"/>
            <a:ext cx="3196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Variables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563674" y="2106088"/>
            <a:ext cx="6771846" cy="1888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are containers for storing data values.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unique names are called identifiers.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Identifiers can be short names (like x and y) or more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names (age, sum, total).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"/>
          <p:cNvSpPr txBox="1"/>
          <p:nvPr>
            <p:ph type="title"/>
          </p:nvPr>
        </p:nvSpPr>
        <p:spPr>
          <a:xfrm>
            <a:off x="2978442" y="866327"/>
            <a:ext cx="1525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336549" y="1532173"/>
            <a:ext cx="7008000" cy="3910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general	rules	for	constructing	names	for	variables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(unique identifiers) are: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can contain letters, digits, underscores, and dollar signs.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must begin with a letter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5080" rtl="0" algn="l">
              <a:lnSpc>
                <a:spcPct val="108421"/>
              </a:lnSpc>
              <a:spcBef>
                <a:spcPts val="107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can also begin with $ and _ (but we will not use it in this  tutorial)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are case sensitive (y and Y are different variables)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13684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Reserved	words	(like	JavaScript	keywords)	cannot	be	used 	as names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"/>
          <p:cNvSpPr txBox="1"/>
          <p:nvPr>
            <p:ph type="title"/>
          </p:nvPr>
        </p:nvSpPr>
        <p:spPr>
          <a:xfrm>
            <a:off x="2988894" y="778877"/>
            <a:ext cx="2350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767970" y="1438964"/>
            <a:ext cx="6596400" cy="44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a variable using the var statement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undefined a variable will be defined on its first use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can be assigned at declaration time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 = 5;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Commas can be used to define many variables at once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x, y = 5, z;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/>
          <p:nvPr>
            <p:ph type="title"/>
          </p:nvPr>
        </p:nvSpPr>
        <p:spPr>
          <a:xfrm>
            <a:off x="2239262" y="275942"/>
            <a:ext cx="4070097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A Simple Script</a:t>
            </a:r>
            <a:endParaRPr sz="3600"/>
          </a:p>
        </p:txBody>
      </p:sp>
      <p:grpSp>
        <p:nvGrpSpPr>
          <p:cNvPr id="350" name="Google Shape;350;p26"/>
          <p:cNvGrpSpPr/>
          <p:nvPr/>
        </p:nvGrpSpPr>
        <p:grpSpPr>
          <a:xfrm>
            <a:off x="986027" y="1647444"/>
            <a:ext cx="7315200" cy="4114800"/>
            <a:chOff x="986027" y="1647444"/>
            <a:chExt cx="7315200" cy="4114800"/>
          </a:xfrm>
        </p:grpSpPr>
        <p:sp>
          <p:nvSpPr>
            <p:cNvPr id="351" name="Google Shape;351;p26"/>
            <p:cNvSpPr/>
            <p:nvPr/>
          </p:nvSpPr>
          <p:spPr>
            <a:xfrm>
              <a:off x="986027" y="1647444"/>
              <a:ext cx="7315200" cy="4114800"/>
            </a:xfrm>
            <a:custGeom>
              <a:rect b="b" l="l" r="r" t="t"/>
              <a:pathLst>
                <a:path extrusionOk="0" h="4114800" w="7315200">
                  <a:moveTo>
                    <a:pt x="73152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7315200" y="4114800"/>
                  </a:lnTo>
                  <a:lnTo>
                    <a:pt x="7315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986027" y="1647444"/>
              <a:ext cx="7315200" cy="4114800"/>
            </a:xfrm>
            <a:custGeom>
              <a:rect b="b" l="l" r="r" t="t"/>
              <a:pathLst>
                <a:path extrusionOk="0" h="4114800" w="7315200">
                  <a:moveTo>
                    <a:pt x="0" y="4114800"/>
                  </a:moveTo>
                  <a:lnTo>
                    <a:pt x="7315200" y="4114800"/>
                  </a:lnTo>
                  <a:lnTo>
                    <a:pt x="7315200" y="0"/>
                  </a:lnTo>
                  <a:lnTo>
                    <a:pt x="0" y="0"/>
                  </a:lnTo>
                  <a:lnTo>
                    <a:pt x="0" y="41148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6"/>
          <p:cNvSpPr txBox="1"/>
          <p:nvPr/>
        </p:nvSpPr>
        <p:spPr>
          <a:xfrm>
            <a:off x="986027" y="1647444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77825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var myvar = 31;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8640" marR="4596130" rtl="0" algn="l">
              <a:lnSpc>
                <a:spcPct val="147700"/>
              </a:lnSpc>
              <a:spcBef>
                <a:spcPts val="45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document.write(myvar);  document.write(Myvar);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>
            <a:off x="1012647" y="1250060"/>
            <a:ext cx="9817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Ex3.html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3733672" y="3242366"/>
            <a:ext cx="4191000" cy="26487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588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1" name="Google Shape;361;p27"/>
          <p:cNvGraphicFramePr/>
          <p:nvPr/>
        </p:nvGraphicFramePr>
        <p:xfrm>
          <a:off x="254000" y="2214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{8B0A126C-DCAF-4070-844D-0827E0D11744}</a:tableStyleId>
              </a:tblPr>
              <a:tblGrid>
                <a:gridCol w="318775"/>
                <a:gridCol w="1854825"/>
                <a:gridCol w="1848475"/>
                <a:gridCol w="1848475"/>
                <a:gridCol w="1854825"/>
                <a:gridCol w="315600"/>
              </a:tblGrid>
              <a:tr h="1292350">
                <a:tc gridSpan="6">
                  <a:txBody>
                    <a:bodyPr/>
                    <a:lstStyle/>
                    <a:p>
                      <a:pPr indent="0" lvl="0" marL="1841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4000"/>
                        <a:buFont typeface="Times New Roman"/>
                        <a:buNone/>
                      </a:pPr>
                      <a:r>
                        <a:rPr lang="en-US" sz="4000" u="none" cap="none" strike="noStrike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JavaScript Reserved Words</a:t>
                      </a:r>
                      <a:endParaRPr sz="4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3225" marB="0" marR="0" marL="0">
                    <a:lnL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hMerge="1"/>
                <a:tc hMerge="1"/>
                <a:tc hMerge="1"/>
                <a:tc hMerge="1"/>
              </a:tr>
              <a:tr h="468500">
                <a:tc rowSpan="9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Trebuchet MS"/>
                        <a:buNone/>
                      </a:pPr>
                      <a:r>
                        <a:t/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arguments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await*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boolean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9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Trebuchet MS"/>
                        <a:buNone/>
                      </a:pPr>
                      <a:r>
                        <a:t/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675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break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byte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catch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650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525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debugger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default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delete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650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else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enum*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650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export*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extends*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525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finally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85625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goto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implements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import*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99400">
                <a:tc vMerge="1"/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instanceof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interface	</a:t>
                      </a:r>
                      <a:r>
                        <a:rPr baseline="-25000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baseline="-25000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399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/>
          <p:cNvSpPr txBox="1"/>
          <p:nvPr>
            <p:ph type="title"/>
          </p:nvPr>
        </p:nvSpPr>
        <p:spPr>
          <a:xfrm>
            <a:off x="609600" y="731521"/>
            <a:ext cx="6620129" cy="629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Reserved Words</a:t>
            </a:r>
            <a:endParaRPr/>
          </a:p>
        </p:txBody>
      </p:sp>
      <p:sp>
        <p:nvSpPr>
          <p:cNvPr id="367" name="Google Shape;367;p28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8" name="Google Shape;368;p28"/>
          <p:cNvGraphicFramePr/>
          <p:nvPr/>
        </p:nvGraphicFramePr>
        <p:xfrm>
          <a:off x="510964" y="17698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{8B0A126C-DCAF-4070-844D-0827E0D11744}</a:tableStyleId>
              </a:tblPr>
              <a:tblGrid>
                <a:gridCol w="1704350"/>
                <a:gridCol w="1704350"/>
                <a:gridCol w="1704350"/>
                <a:gridCol w="1704350"/>
              </a:tblGrid>
              <a:tr h="51167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native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550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null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package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protected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67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short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550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super*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synchronized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67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throw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throws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transient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550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try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typeof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void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51167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volatile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while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yield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369" name="Google Shape;369;p28"/>
          <p:cNvSpPr txBox="1"/>
          <p:nvPr/>
        </p:nvSpPr>
        <p:spPr>
          <a:xfrm>
            <a:off x="1349121" y="5759907"/>
            <a:ext cx="6260719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Words marked with* are new in ECMAScript 5 and 6. (</a:t>
            </a:r>
            <a:r>
              <a:rPr b="0" i="0" lang="en-US" sz="1800" u="none" cap="none" strike="noStrike">
                <a:solidFill>
                  <a:srgbClr val="040C28"/>
                </a:solidFill>
                <a:latin typeface="Google Sans"/>
                <a:ea typeface="Google Sans"/>
                <a:cs typeface="Google Sans"/>
                <a:sym typeface="Google Sans"/>
              </a:rPr>
              <a:t>European Computer Manufacturers Association</a:t>
            </a:r>
            <a:r>
              <a:rPr b="0" i="0" lang="en-US" sz="1800" u="none" cap="none" strike="noStrike">
                <a:solidFill>
                  <a:srgbClr val="474747"/>
                </a:solidFill>
                <a:latin typeface="Google Sans"/>
                <a:ea typeface="Google Sans"/>
                <a:cs typeface="Google Sans"/>
                <a:sym typeface="Google Sans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"/>
          <p:cNvSpPr txBox="1"/>
          <p:nvPr>
            <p:ph type="title"/>
          </p:nvPr>
        </p:nvSpPr>
        <p:spPr>
          <a:xfrm>
            <a:off x="1127177" y="778877"/>
            <a:ext cx="4579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Data Types</a:t>
            </a:r>
            <a:endParaRPr/>
          </a:p>
        </p:txBody>
      </p:sp>
      <p:sp>
        <p:nvSpPr>
          <p:cNvPr id="375" name="Google Shape;375;p29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9"/>
          <p:cNvSpPr txBox="1"/>
          <p:nvPr/>
        </p:nvSpPr>
        <p:spPr>
          <a:xfrm>
            <a:off x="467365" y="1538292"/>
            <a:ext cx="6746100" cy="3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variable has a data type that indicates what kind of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the variable holds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data types in JavaScript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8181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 has  dynamic  types.  This	means	that the same  variable can be used to hold different data types.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"/>
          <p:cNvSpPr txBox="1"/>
          <p:nvPr>
            <p:ph type="title"/>
          </p:nvPr>
        </p:nvSpPr>
        <p:spPr>
          <a:xfrm>
            <a:off x="2513982" y="1025851"/>
            <a:ext cx="3006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Numbers</a:t>
            </a:r>
            <a:endParaRPr/>
          </a:p>
        </p:txBody>
      </p:sp>
      <p:sp>
        <p:nvSpPr>
          <p:cNvPr id="382" name="Google Shape;382;p30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366920" y="1939957"/>
            <a:ext cx="7712700" cy="42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has only one type of numbers.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 can be written with, or without decimals: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252525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7100" marR="0" rtl="0" algn="l">
              <a:lnSpc>
                <a:spcPct val="113684"/>
              </a:lnSpc>
              <a:spcBef>
                <a:spcPts val="840"/>
              </a:spcBef>
              <a:spcAft>
                <a:spcPts val="0"/>
              </a:spcAft>
              <a:buClr>
                <a:srgbClr val="252525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x1 = 34.00;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710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x2 = -34;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14090"/>
              </a:lnSpc>
              <a:spcBef>
                <a:spcPts val="85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	large	or	extra	small	numbers	can	be	written	with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scientific (exponential) notation.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252525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32485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252525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y = 123e5;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1"/>
          <p:cNvSpPr txBox="1"/>
          <p:nvPr>
            <p:ph type="title"/>
          </p:nvPr>
        </p:nvSpPr>
        <p:spPr>
          <a:xfrm>
            <a:off x="2077038" y="1082851"/>
            <a:ext cx="3189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Strings</a:t>
            </a:r>
            <a:endParaRPr/>
          </a:p>
        </p:txBody>
      </p:sp>
      <p:sp>
        <p:nvSpPr>
          <p:cNvPr id="389" name="Google Shape;389;p3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1"/>
          <p:cNvSpPr txBox="1"/>
          <p:nvPr/>
        </p:nvSpPr>
        <p:spPr>
          <a:xfrm>
            <a:off x="543901" y="1925849"/>
            <a:ext cx="7751400" cy="3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string (or a text string) is a series of characters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 are written with quotes. You can use single or double quotes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(“thomas”, ‘x’, “Who are you?”)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 may include special escaped characters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‘This isn\’t hard’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 may contain some formatting characters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“Here are some newlines \n\n\n and tabs \t\t\t yes!”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Whitespace has no meaning outside of  quotation marks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12115" marR="0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foo = ’ h e l l o world ’;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 txBox="1"/>
          <p:nvPr>
            <p:ph type="title"/>
          </p:nvPr>
        </p:nvSpPr>
        <p:spPr>
          <a:xfrm>
            <a:off x="2228992" y="1158825"/>
            <a:ext cx="3175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Boolean</a:t>
            </a:r>
            <a:endParaRPr/>
          </a:p>
        </p:txBody>
      </p:sp>
      <p:sp>
        <p:nvSpPr>
          <p:cNvPr id="396" name="Google Shape;396;p3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2"/>
          <p:cNvSpPr txBox="1"/>
          <p:nvPr/>
        </p:nvSpPr>
        <p:spPr>
          <a:xfrm>
            <a:off x="666380" y="2301112"/>
            <a:ext cx="6300724" cy="996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Booleans can only have two values: true or false.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Booleans are often used in conditional testing.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3"/>
          <p:cNvSpPr txBox="1"/>
          <p:nvPr>
            <p:ph type="title"/>
          </p:nvPr>
        </p:nvSpPr>
        <p:spPr>
          <a:xfrm>
            <a:off x="766217" y="1087001"/>
            <a:ext cx="5502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Type Conversion</a:t>
            </a:r>
            <a:endParaRPr/>
          </a:p>
        </p:txBody>
      </p:sp>
      <p:sp>
        <p:nvSpPr>
          <p:cNvPr id="403" name="Google Shape;403;p33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3"/>
          <p:cNvSpPr txBox="1"/>
          <p:nvPr/>
        </p:nvSpPr>
        <p:spPr>
          <a:xfrm>
            <a:off x="232154" y="2341262"/>
            <a:ext cx="7691120" cy="75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	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	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	to find the type of JavaScript Variable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33"/>
          <p:cNvSpPr txBox="1"/>
          <p:nvPr/>
        </p:nvSpPr>
        <p:spPr>
          <a:xfrm>
            <a:off x="1197534" y="3717911"/>
            <a:ext cx="3502356" cy="1878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variable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 (3)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 (3 + 4)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 txBox="1"/>
          <p:nvPr>
            <p:ph type="title"/>
          </p:nvPr>
        </p:nvSpPr>
        <p:spPr>
          <a:xfrm>
            <a:off x="1678088" y="816877"/>
            <a:ext cx="3559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Arrays</a:t>
            </a:r>
            <a:endParaRPr/>
          </a:p>
        </p:txBody>
      </p:sp>
      <p:sp>
        <p:nvSpPr>
          <p:cNvPr id="411" name="Google Shape;411;p34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4"/>
          <p:cNvSpPr txBox="1"/>
          <p:nvPr/>
        </p:nvSpPr>
        <p:spPr>
          <a:xfrm>
            <a:off x="401200" y="1752949"/>
            <a:ext cx="6947400" cy="3522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 is a special variable, which can hold more than one value at a time.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array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595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cars = [];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90395" marR="0" rtl="0" algn="l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Clr>
                <a:srgbClr val="252525"/>
              </a:buClr>
              <a:buSzPts val="1900"/>
              <a:buFont typeface="Times New Roman"/>
              <a:buNone/>
            </a:pPr>
            <a:r>
              <a:rPr b="0" i="0" lang="en-US" sz="19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cars = [“TATA", "Volvo", "BMW"];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the elements of an array by referring </a:t>
            </a:r>
            <a:r>
              <a:rPr b="1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 </a:t>
            </a: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039745" rtl="0" algn="r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name = car[1];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0" marL="286385" marR="2991485" rtl="0" algn="r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index starts from zero (0).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"/>
          <p:cNvSpPr txBox="1"/>
          <p:nvPr>
            <p:ph type="title"/>
          </p:nvPr>
        </p:nvSpPr>
        <p:spPr>
          <a:xfrm>
            <a:off x="3814317" y="1208277"/>
            <a:ext cx="152527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418" name="Google Shape;418;p35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516000" y="1844547"/>
            <a:ext cx="6852920" cy="259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43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property of	an array returns the length of  an array (the number of array elements).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cars.length;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062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	a	new	element	to	an	array	is	using	the	push  method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1211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cars.push(“swift”)</a:t>
            </a:r>
            <a:r>
              <a:rPr b="0" i="0" lang="en-US" sz="1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 txBox="1"/>
          <p:nvPr>
            <p:ph type="title"/>
          </p:nvPr>
        </p:nvSpPr>
        <p:spPr>
          <a:xfrm>
            <a:off x="1026160" y="766739"/>
            <a:ext cx="5686679" cy="629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Arithmetic Operators</a:t>
            </a:r>
            <a:endParaRPr/>
          </a:p>
        </p:txBody>
      </p:sp>
      <p:sp>
        <p:nvSpPr>
          <p:cNvPr id="425" name="Google Shape;425;p36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6" name="Google Shape;426;p36"/>
          <p:cNvGraphicFramePr/>
          <p:nvPr/>
        </p:nvGraphicFramePr>
        <p:xfrm>
          <a:off x="626506" y="17696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{8B0A126C-DCAF-4070-844D-0827E0D11744}</a:tableStyleId>
              </a:tblPr>
              <a:tblGrid>
                <a:gridCol w="1503375"/>
                <a:gridCol w="5176175"/>
              </a:tblGrid>
              <a:tr h="45390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77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390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Subtraction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77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Multiplication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390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Division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77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Modulus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385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++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Increment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82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0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Decrement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0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"/>
          <p:cNvSpPr txBox="1"/>
          <p:nvPr>
            <p:ph type="title"/>
          </p:nvPr>
        </p:nvSpPr>
        <p:spPr>
          <a:xfrm>
            <a:off x="914400" y="660400"/>
            <a:ext cx="5815457" cy="629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Assignment Operator</a:t>
            </a:r>
            <a:endParaRPr/>
          </a:p>
        </p:txBody>
      </p:sp>
      <p:sp>
        <p:nvSpPr>
          <p:cNvPr id="432" name="Google Shape;432;p37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3" name="Google Shape;433;p37"/>
          <p:cNvGraphicFramePr/>
          <p:nvPr/>
        </p:nvGraphicFramePr>
        <p:xfrm>
          <a:off x="226424" y="1644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{8B0A126C-DCAF-4070-844D-0827E0D11744}</a:tableStyleId>
              </a:tblPr>
              <a:tblGrid>
                <a:gridCol w="1915800"/>
                <a:gridCol w="2890525"/>
                <a:gridCol w="2890525"/>
              </a:tblGrid>
              <a:tr h="45765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Equivalent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775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765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+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775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-=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-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765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*=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*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775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/=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/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765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%=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% 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8"/>
          <p:cNvSpPr txBox="1"/>
          <p:nvPr>
            <p:ph type="title"/>
          </p:nvPr>
        </p:nvSpPr>
        <p:spPr>
          <a:xfrm>
            <a:off x="1687321" y="579295"/>
            <a:ext cx="4368039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Comparison Operator</a:t>
            </a:r>
            <a:endParaRPr sz="3600"/>
          </a:p>
        </p:txBody>
      </p:sp>
      <p:graphicFrame>
        <p:nvGraphicFramePr>
          <p:cNvPr id="439" name="Google Shape;439;p38"/>
          <p:cNvGraphicFramePr/>
          <p:nvPr/>
        </p:nvGraphicFramePr>
        <p:xfrm>
          <a:off x="421957" y="12948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{8B0A126C-DCAF-4070-844D-0827E0D11744}</a:tableStyleId>
              </a:tblPr>
              <a:tblGrid>
                <a:gridCol w="724250"/>
                <a:gridCol w="5366350"/>
              </a:tblGrid>
              <a:tr h="684400">
                <a:tc>
                  <a:txBody>
                    <a:bodyPr/>
                    <a:lstStyle/>
                    <a:p>
                      <a:pPr indent="0" lvl="0" marL="144780" marR="13335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  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equal to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===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equal value and equal type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975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equal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!==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equal value or not equal type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greater than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than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greater than or equal to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1900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than or equal to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050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0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125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ternary operator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412750" rtl="0" algn="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0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/>
          <p:nvPr>
            <p:ph type="title"/>
          </p:nvPr>
        </p:nvSpPr>
        <p:spPr>
          <a:xfrm>
            <a:off x="1127759" y="892493"/>
            <a:ext cx="3982721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Logical Operator</a:t>
            </a:r>
            <a:endParaRPr/>
          </a:p>
        </p:txBody>
      </p:sp>
      <p:graphicFrame>
        <p:nvGraphicFramePr>
          <p:cNvPr id="445" name="Google Shape;445;p39"/>
          <p:cNvGraphicFramePr/>
          <p:nvPr/>
        </p:nvGraphicFramePr>
        <p:xfrm>
          <a:off x="711517" y="22617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{8B0A126C-DCAF-4070-844D-0827E0D11744}</a:tableStyleId>
              </a:tblPr>
              <a:tblGrid>
                <a:gridCol w="1536825"/>
                <a:gridCol w="4325175"/>
              </a:tblGrid>
              <a:tr h="70187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552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&amp;&amp;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logical and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705350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||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logical or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82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5525"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Times New Roman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logical not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44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46" name="Google Shape;446;p39"/>
          <p:cNvSpPr txBox="1"/>
          <p:nvPr/>
        </p:nvSpPr>
        <p:spPr>
          <a:xfrm>
            <a:off x="7731632" y="6011367"/>
            <a:ext cx="16637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0"/>
          <p:cNvSpPr txBox="1"/>
          <p:nvPr>
            <p:ph type="title"/>
          </p:nvPr>
        </p:nvSpPr>
        <p:spPr>
          <a:xfrm>
            <a:off x="1655826" y="349274"/>
            <a:ext cx="4714494" cy="629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Conditional Statement</a:t>
            </a:r>
            <a:endParaRPr/>
          </a:p>
        </p:txBody>
      </p:sp>
      <p:sp>
        <p:nvSpPr>
          <p:cNvPr id="452" name="Google Shape;452;p40"/>
          <p:cNvSpPr txBox="1"/>
          <p:nvPr/>
        </p:nvSpPr>
        <p:spPr>
          <a:xfrm>
            <a:off x="7731632" y="6011367"/>
            <a:ext cx="16637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0"/>
          <p:cNvSpPr txBox="1"/>
          <p:nvPr/>
        </p:nvSpPr>
        <p:spPr>
          <a:xfrm>
            <a:off x="790143" y="1777872"/>
            <a:ext cx="7164070" cy="634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(hour &lt; 18)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	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0"/>
          <p:cNvSpPr txBox="1"/>
          <p:nvPr/>
        </p:nvSpPr>
        <p:spPr>
          <a:xfrm>
            <a:off x="1070863" y="2387854"/>
            <a:ext cx="2789937" cy="319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day";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0"/>
          <p:cNvSpPr txBox="1"/>
          <p:nvPr/>
        </p:nvSpPr>
        <p:spPr>
          <a:xfrm>
            <a:off x="790143" y="2717419"/>
            <a:ext cx="110489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0"/>
          <p:cNvSpPr txBox="1"/>
          <p:nvPr/>
        </p:nvSpPr>
        <p:spPr>
          <a:xfrm>
            <a:off x="4804664" y="2460117"/>
            <a:ext cx="3127375" cy="3378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060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 hour = new  Date().getHours();  var greeting;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255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(hour &lt; 18)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02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day";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2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023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evening";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0"/>
          <p:cNvSpPr txBox="1"/>
          <p:nvPr/>
        </p:nvSpPr>
        <p:spPr>
          <a:xfrm>
            <a:off x="4874767" y="5814466"/>
            <a:ext cx="110489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0"/>
          <p:cNvSpPr txBox="1"/>
          <p:nvPr/>
        </p:nvSpPr>
        <p:spPr>
          <a:xfrm>
            <a:off x="898295" y="3374517"/>
            <a:ext cx="3329304" cy="2464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(hour&lt; 10) 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80670" lvl="0" marL="12700" marR="1116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 morning";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else if (hour &lt; 20) 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337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day";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else 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33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evening";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1"/>
          <p:cNvSpPr txBox="1"/>
          <p:nvPr>
            <p:ph type="title"/>
          </p:nvPr>
        </p:nvSpPr>
        <p:spPr>
          <a:xfrm>
            <a:off x="3103118" y="1025397"/>
            <a:ext cx="128270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464" name="Google Shape;464;p4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465" name="Google Shape;465;p41"/>
          <p:cNvSpPr txBox="1"/>
          <p:nvPr/>
        </p:nvSpPr>
        <p:spPr>
          <a:xfrm>
            <a:off x="365760" y="1910080"/>
            <a:ext cx="7162800" cy="3540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287019" lvl="0" marL="299085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Loops	can	execute	a	block	of	code	as	long	as	a  specified condition is true.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7620" rtl="0" algn="l">
              <a:lnSpc>
                <a:spcPct val="107916"/>
              </a:lnSpc>
              <a:spcBef>
                <a:spcPts val="118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loop loops through a block of code as long as a  specified condition is true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marR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27125" marR="0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while (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27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804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 to be executed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2712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 txBox="1"/>
          <p:nvPr>
            <p:ph type="title"/>
          </p:nvPr>
        </p:nvSpPr>
        <p:spPr>
          <a:xfrm>
            <a:off x="2245360" y="416560"/>
            <a:ext cx="3218560" cy="629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471" name="Google Shape;471;p4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43</a:t>
            </a:r>
            <a:endParaRPr/>
          </a:p>
        </p:txBody>
      </p:sp>
      <p:sp>
        <p:nvSpPr>
          <p:cNvPr id="472" name="Google Shape;472;p42"/>
          <p:cNvSpPr txBox="1"/>
          <p:nvPr/>
        </p:nvSpPr>
        <p:spPr>
          <a:xfrm>
            <a:off x="551484" y="1233424"/>
            <a:ext cx="4812996" cy="466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2858770" rtl="0" algn="l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text = "";  var i = 1; 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(i &lt; 10)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document.write("&lt;br&gt; The number is " + i);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i++;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5364480" y="1507744"/>
            <a:ext cx="3066288" cy="33436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3"/>
          <p:cNvSpPr txBox="1"/>
          <p:nvPr>
            <p:ph type="title"/>
          </p:nvPr>
        </p:nvSpPr>
        <p:spPr>
          <a:xfrm>
            <a:off x="2407921" y="254007"/>
            <a:ext cx="286169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479" name="Google Shape;479;p43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44</a:t>
            </a:r>
            <a:endParaRPr/>
          </a:p>
        </p:txBody>
      </p:sp>
      <p:sp>
        <p:nvSpPr>
          <p:cNvPr id="480" name="Google Shape;480;p43"/>
          <p:cNvSpPr txBox="1"/>
          <p:nvPr/>
        </p:nvSpPr>
        <p:spPr>
          <a:xfrm>
            <a:off x="487681" y="1105143"/>
            <a:ext cx="4663440" cy="5752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2858770" rtl="0" algn="l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text = ""; 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i = 10; 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(i &lt;   10)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document.write("&lt;br&gt; The number is " + i);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i++;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document.write(“Outside while loop “ + i);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43"/>
          <p:cNvSpPr/>
          <p:nvPr/>
        </p:nvSpPr>
        <p:spPr>
          <a:xfrm>
            <a:off x="5151121" y="1105143"/>
            <a:ext cx="3343655" cy="33527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/>
          <p:nvPr>
            <p:ph type="title"/>
          </p:nvPr>
        </p:nvSpPr>
        <p:spPr>
          <a:xfrm>
            <a:off x="3936238" y="1208277"/>
            <a:ext cx="128270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487" name="Google Shape;487;p44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  <p:sp>
        <p:nvSpPr>
          <p:cNvPr id="488" name="Google Shape;488;p44"/>
          <p:cNvSpPr txBox="1"/>
          <p:nvPr/>
        </p:nvSpPr>
        <p:spPr>
          <a:xfrm>
            <a:off x="520890" y="2046173"/>
            <a:ext cx="6830695" cy="3411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Do-while loop will execute the code block once,  before checking if the condition is true, then it will  repeat the loop as long as the condition is true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rebuchet MS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2050"/>
              <a:buFont typeface="Trebuchet MS"/>
              <a:buNone/>
            </a:pPr>
            <a:r>
              <a:t/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77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 to be executed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2050"/>
              <a:buFont typeface="Trebuchet MS"/>
              <a:buNone/>
            </a:pPr>
            <a:r>
              <a:t/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 while (</a:t>
            </a:r>
            <a:r>
              <a:rPr b="0" i="1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5"/>
          <p:cNvSpPr txBox="1"/>
          <p:nvPr>
            <p:ph type="title"/>
          </p:nvPr>
        </p:nvSpPr>
        <p:spPr>
          <a:xfrm>
            <a:off x="2589951" y="702901"/>
            <a:ext cx="278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494" name="Google Shape;494;p45"/>
          <p:cNvSpPr txBox="1"/>
          <p:nvPr>
            <p:ph idx="1" type="body"/>
          </p:nvPr>
        </p:nvSpPr>
        <p:spPr>
          <a:xfrm>
            <a:off x="841044" y="1180940"/>
            <a:ext cx="7046595" cy="459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&lt;html&gt;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&lt;body&gt;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&lt;scr</a:t>
            </a:r>
            <a:r>
              <a:rPr lang="en-US" u="sng"/>
              <a:t>ipt&gt;	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/>
              <a:t>var i = 1;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do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{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document.write("&lt;br&gt; The number is " + i);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i++;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} while (i &lt; 10);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&lt;/script&gt;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&lt;/body&gt;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&lt;/html&gt;</a:t>
            </a:r>
            <a:endParaRPr/>
          </a:p>
        </p:txBody>
      </p:sp>
      <p:sp>
        <p:nvSpPr>
          <p:cNvPr id="495" name="Google Shape;495;p45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46</a:t>
            </a:r>
            <a:endParaRPr/>
          </a:p>
        </p:txBody>
      </p:sp>
      <p:sp>
        <p:nvSpPr>
          <p:cNvPr id="496" name="Google Shape;496;p45"/>
          <p:cNvSpPr/>
          <p:nvPr/>
        </p:nvSpPr>
        <p:spPr>
          <a:xfrm>
            <a:off x="5867400" y="2514600"/>
            <a:ext cx="2532888" cy="30662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6"/>
          <p:cNvSpPr txBox="1"/>
          <p:nvPr>
            <p:ph type="title"/>
          </p:nvPr>
        </p:nvSpPr>
        <p:spPr>
          <a:xfrm>
            <a:off x="2475976" y="740900"/>
            <a:ext cx="290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502" name="Google Shape;502;p46"/>
          <p:cNvSpPr txBox="1"/>
          <p:nvPr>
            <p:ph idx="1" type="body"/>
          </p:nvPr>
        </p:nvSpPr>
        <p:spPr>
          <a:xfrm>
            <a:off x="841044" y="1180940"/>
            <a:ext cx="7046595" cy="459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&lt;html&gt;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&lt;body&gt;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&lt;scr</a:t>
            </a:r>
            <a:r>
              <a:rPr lang="en-US" u="sng"/>
              <a:t>ipt&gt;	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/>
              <a:t>var i = 10;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do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{</a:t>
            </a:r>
            <a:endParaRPr/>
          </a:p>
          <a:p>
            <a:pPr indent="0" lvl="0" marL="46926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document.write("&lt;br&gt; The number is " + i);</a:t>
            </a:r>
            <a:endParaRPr/>
          </a:p>
          <a:p>
            <a:pPr indent="0" lvl="0" marL="46926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i++;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FF"/>
                </a:solidFill>
              </a:rPr>
              <a:t>} while (i &lt; 10);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&lt;/script&gt;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&lt;/body&gt;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&lt;/html&gt;</a:t>
            </a:r>
            <a:endParaRPr/>
          </a:p>
        </p:txBody>
      </p:sp>
      <p:sp>
        <p:nvSpPr>
          <p:cNvPr id="503" name="Google Shape;503;p46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  <p:sp>
        <p:nvSpPr>
          <p:cNvPr id="504" name="Google Shape;504;p46"/>
          <p:cNvSpPr/>
          <p:nvPr/>
        </p:nvSpPr>
        <p:spPr>
          <a:xfrm>
            <a:off x="5943600" y="2465832"/>
            <a:ext cx="2657855" cy="29108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/>
          <p:cNvSpPr txBox="1"/>
          <p:nvPr>
            <p:ph type="title"/>
          </p:nvPr>
        </p:nvSpPr>
        <p:spPr>
          <a:xfrm>
            <a:off x="3710685" y="666445"/>
            <a:ext cx="173037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For Loop</a:t>
            </a:r>
            <a:endParaRPr sz="3600"/>
          </a:p>
        </p:txBody>
      </p:sp>
      <p:sp>
        <p:nvSpPr>
          <p:cNvPr id="510" name="Google Shape;510;p47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</p:txBody>
      </p:sp>
      <p:sp>
        <p:nvSpPr>
          <p:cNvPr id="511" name="Google Shape;511;p47"/>
          <p:cNvSpPr txBox="1"/>
          <p:nvPr/>
        </p:nvSpPr>
        <p:spPr>
          <a:xfrm>
            <a:off x="0" y="1678980"/>
            <a:ext cx="7019293" cy="5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287019" lvl="0" marL="299085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for	loop	is	often	the	tool	you	will	use	when	you  </a:t>
            </a:r>
            <a:r>
              <a:rPr b="0" i="0" lang="en-US" sz="2400" u="sng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want to create a loop							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8422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for (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statement 1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statement 2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statement 3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375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 to be executed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84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1 </a:t>
            </a: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executed before the loop (the code block) starts.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14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2 </a:t>
            </a: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the condition for running the loop (the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6285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block).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14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3 </a:t>
            </a: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executed each time after the loop (the code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6285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block) has been executed.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8"/>
          <p:cNvSpPr txBox="1"/>
          <p:nvPr>
            <p:ph type="title"/>
          </p:nvPr>
        </p:nvSpPr>
        <p:spPr>
          <a:xfrm>
            <a:off x="2437969" y="702902"/>
            <a:ext cx="3028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17" name="Google Shape;517;p48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  <p:sp>
        <p:nvSpPr>
          <p:cNvPr id="518" name="Google Shape;518;p48"/>
          <p:cNvSpPr txBox="1"/>
          <p:nvPr/>
        </p:nvSpPr>
        <p:spPr>
          <a:xfrm>
            <a:off x="749610" y="1434712"/>
            <a:ext cx="4826100" cy="4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i = 1;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for(i=1;i&lt;10;i++)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65430" marR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document.write("&lt;br&gt; The number is " + i);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48"/>
          <p:cNvSpPr/>
          <p:nvPr/>
        </p:nvSpPr>
        <p:spPr>
          <a:xfrm>
            <a:off x="5715000" y="1840992"/>
            <a:ext cx="2895600" cy="38039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9"/>
          <p:cNvSpPr txBox="1"/>
          <p:nvPr>
            <p:ph type="title"/>
          </p:nvPr>
        </p:nvSpPr>
        <p:spPr>
          <a:xfrm>
            <a:off x="872279" y="122412"/>
            <a:ext cx="5298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Switch Statement</a:t>
            </a:r>
            <a:endParaRPr/>
          </a:p>
        </p:txBody>
      </p:sp>
      <p:sp>
        <p:nvSpPr>
          <p:cNvPr id="525" name="Google Shape;525;p49"/>
          <p:cNvSpPr txBox="1"/>
          <p:nvPr/>
        </p:nvSpPr>
        <p:spPr>
          <a:xfrm>
            <a:off x="688652" y="2089700"/>
            <a:ext cx="1388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49"/>
          <p:cNvSpPr txBox="1"/>
          <p:nvPr/>
        </p:nvSpPr>
        <p:spPr>
          <a:xfrm>
            <a:off x="688650" y="4730302"/>
            <a:ext cx="7650600" cy="14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switch expression is evaluated once.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 of the expression is compared with the values of each case.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a match, the associated block of code is executed.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49"/>
          <p:cNvSpPr txBox="1"/>
          <p:nvPr/>
        </p:nvSpPr>
        <p:spPr>
          <a:xfrm>
            <a:off x="7731632" y="6011367"/>
            <a:ext cx="16637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9"/>
          <p:cNvSpPr txBox="1"/>
          <p:nvPr/>
        </p:nvSpPr>
        <p:spPr>
          <a:xfrm>
            <a:off x="326100" y="900332"/>
            <a:ext cx="84918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switch statement to select one of many blocks of code to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executed.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41804" marR="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switch(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9"/>
          <p:cNvSpPr txBox="1"/>
          <p:nvPr/>
        </p:nvSpPr>
        <p:spPr>
          <a:xfrm>
            <a:off x="1963045" y="2600114"/>
            <a:ext cx="2084100" cy="22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case 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860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86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break;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case 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86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86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break;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default: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860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9"/>
          <p:cNvSpPr txBox="1"/>
          <p:nvPr/>
        </p:nvSpPr>
        <p:spPr>
          <a:xfrm>
            <a:off x="2418079" y="4521530"/>
            <a:ext cx="1022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0"/>
          <p:cNvSpPr txBox="1"/>
          <p:nvPr>
            <p:ph type="title"/>
          </p:nvPr>
        </p:nvSpPr>
        <p:spPr>
          <a:xfrm>
            <a:off x="3026904" y="320700"/>
            <a:ext cx="2331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536" name="Google Shape;536;p50"/>
          <p:cNvSpPr txBox="1"/>
          <p:nvPr>
            <p:ph idx="1" type="body"/>
          </p:nvPr>
        </p:nvSpPr>
        <p:spPr>
          <a:xfrm>
            <a:off x="4508676" y="1728752"/>
            <a:ext cx="3419100" cy="3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case 4:</a:t>
            </a:r>
            <a:endParaRPr/>
          </a:p>
          <a:p>
            <a:pPr indent="0" lvl="0" marL="445134" marR="969010" rtl="0" algn="l">
              <a:lnSpc>
                <a:spcPct val="155294"/>
              </a:lnSpc>
              <a:spcBef>
                <a:spcPts val="185"/>
              </a:spcBef>
              <a:spcAft>
                <a:spcPts val="0"/>
              </a:spcAft>
              <a:buSzPts val="1400"/>
              <a:buNone/>
            </a:pPr>
            <a:r>
              <a:rPr lang="en-US"/>
              <a:t>day = "Thursday";  break;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SzPts val="1400"/>
              <a:buNone/>
            </a:pPr>
            <a:r>
              <a:rPr lang="en-US"/>
              <a:t>case 5:</a:t>
            </a:r>
            <a:endParaRPr/>
          </a:p>
          <a:p>
            <a:pPr indent="0" lvl="0" marL="445134" marR="1233805" rtl="0" algn="l">
              <a:lnSpc>
                <a:spcPct val="1293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day = "Friday";  break;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case 6:</a:t>
            </a:r>
            <a:endParaRPr/>
          </a:p>
          <a:p>
            <a:pPr indent="0" lvl="0" marL="445134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1400"/>
              <a:buNone/>
            </a:pPr>
            <a:r>
              <a:rPr lang="en-US"/>
              <a:t>day = "Saturday";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}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document.write("Today is " + day);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&lt;/script&gt;</a:t>
            </a:r>
            <a:endParaRPr/>
          </a:p>
        </p:txBody>
      </p:sp>
      <p:sp>
        <p:nvSpPr>
          <p:cNvPr id="537" name="Google Shape;537;p50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  <p:sp>
        <p:nvSpPr>
          <p:cNvPr id="538" name="Google Shape;538;p50"/>
          <p:cNvSpPr txBox="1"/>
          <p:nvPr/>
        </p:nvSpPr>
        <p:spPr>
          <a:xfrm>
            <a:off x="550425" y="721900"/>
            <a:ext cx="2970600" cy="5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828164" rtl="0" algn="l">
              <a:lnSpc>
                <a:spcPct val="129399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  var day;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6534" lvl="0" marL="228600" marR="5080" rtl="0" algn="l">
              <a:lnSpc>
                <a:spcPct val="129399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(new Date().getDay()) {  case 0: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786130" rtl="0" algn="l">
              <a:lnSpc>
                <a:spcPct val="129399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"Sunday";  break;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"Monday";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"Tuesday";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399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3: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769" marR="450850" rtl="0" algn="l">
              <a:lnSpc>
                <a:spcPct val="129399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"Wednesday";  break;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1"/>
          <p:cNvSpPr txBox="1"/>
          <p:nvPr>
            <p:ph type="title"/>
          </p:nvPr>
        </p:nvSpPr>
        <p:spPr>
          <a:xfrm>
            <a:off x="1713437" y="524476"/>
            <a:ext cx="4857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Functions</a:t>
            </a:r>
            <a:endParaRPr/>
          </a:p>
        </p:txBody>
      </p:sp>
      <p:sp>
        <p:nvSpPr>
          <p:cNvPr id="544" name="Google Shape;544;p5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52</a:t>
            </a:r>
            <a:endParaRPr/>
          </a:p>
        </p:txBody>
      </p:sp>
      <p:sp>
        <p:nvSpPr>
          <p:cNvPr id="545" name="Google Shape;545;p51"/>
          <p:cNvSpPr txBox="1"/>
          <p:nvPr/>
        </p:nvSpPr>
        <p:spPr>
          <a:xfrm>
            <a:off x="569475" y="1685275"/>
            <a:ext cx="7809900" cy="3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JavaScript function is a block of code designed to perform a particular task.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1409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JavaScript function is executed when "something" invokes it (calls it).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0" marL="286385" marR="5959475" rtl="0" algn="just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myFunction(p1, p2) {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p1 * p2;	// The function returns the product of p1 &amp; p2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2"/>
          <p:cNvSpPr txBox="1"/>
          <p:nvPr>
            <p:ph type="title"/>
          </p:nvPr>
        </p:nvSpPr>
        <p:spPr>
          <a:xfrm>
            <a:off x="1072813" y="429937"/>
            <a:ext cx="5354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Objects</a:t>
            </a:r>
            <a:endParaRPr/>
          </a:p>
        </p:txBody>
      </p:sp>
      <p:sp>
        <p:nvSpPr>
          <p:cNvPr id="551" name="Google Shape;551;p5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53</a:t>
            </a:r>
            <a:endParaRPr/>
          </a:p>
        </p:txBody>
      </p:sp>
      <p:sp>
        <p:nvSpPr>
          <p:cNvPr id="552" name="Google Shape;552;p52"/>
          <p:cNvSpPr txBox="1"/>
          <p:nvPr/>
        </p:nvSpPr>
        <p:spPr>
          <a:xfrm>
            <a:off x="350985" y="1601320"/>
            <a:ext cx="7154400" cy="3655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Life Objects, Properties, and Methods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real life, a car is an object.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just">
              <a:lnSpc>
                <a:spcPct val="107954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car has properties like weight and color, and methods like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just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and stop.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7620" rtl="0" algn="just">
              <a:lnSpc>
                <a:spcPct val="8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cars have the same properties, but the property values  differ from car to car.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just">
              <a:lnSpc>
                <a:spcPct val="8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	cars	 have	the	same	methods,	but	the	methods	are  performed at different times.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8255" rtl="0" algn="just">
              <a:lnSpc>
                <a:spcPct val="8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	are	variables	too.	 But	objects	can	contain	many  values.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3"/>
          <p:cNvSpPr txBox="1"/>
          <p:nvPr>
            <p:ph type="title"/>
          </p:nvPr>
        </p:nvSpPr>
        <p:spPr>
          <a:xfrm>
            <a:off x="917250" y="216232"/>
            <a:ext cx="5469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Objects</a:t>
            </a:r>
            <a:endParaRPr/>
          </a:p>
        </p:txBody>
      </p:sp>
      <p:sp>
        <p:nvSpPr>
          <p:cNvPr id="558" name="Google Shape;558;p53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54</a:t>
            </a:r>
            <a:endParaRPr/>
          </a:p>
        </p:txBody>
      </p:sp>
      <p:sp>
        <p:nvSpPr>
          <p:cNvPr id="559" name="Google Shape;559;p53"/>
          <p:cNvSpPr txBox="1"/>
          <p:nvPr/>
        </p:nvSpPr>
        <p:spPr>
          <a:xfrm>
            <a:off x="379250" y="1349430"/>
            <a:ext cx="6596380" cy="4537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12700" marR="9525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code assigns many values (Fiat, 500, white) to a variable  named car: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car = {type:"Fiat", model:"500", color:"white"};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7916"/>
              </a:lnSpc>
              <a:spcBef>
                <a:spcPts val="122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values are written as name:value pairs (name and value  separated by a colon).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309245" rtl="0" algn="l">
              <a:lnSpc>
                <a:spcPct val="107916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objects are containers for named values called  properties or methods.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spcBef>
                <a:spcPts val="85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name:values pairs in JavaScript objects are called properties</a:t>
            </a:r>
            <a:endParaRPr/>
          </a:p>
          <a:p>
            <a:pPr indent="-112394" lvl="0" marL="299085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4"/>
          <p:cNvSpPr/>
          <p:nvPr/>
        </p:nvSpPr>
        <p:spPr>
          <a:xfrm>
            <a:off x="652251" y="1356786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4"/>
          <p:cNvSpPr txBox="1"/>
          <p:nvPr>
            <p:ph type="title"/>
          </p:nvPr>
        </p:nvSpPr>
        <p:spPr>
          <a:xfrm>
            <a:off x="652251" y="645899"/>
            <a:ext cx="6731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Accessing Object Properties</a:t>
            </a:r>
            <a:endParaRPr/>
          </a:p>
        </p:txBody>
      </p:sp>
      <p:sp>
        <p:nvSpPr>
          <p:cNvPr id="566" name="Google Shape;566;p54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55</a:t>
            </a:r>
            <a:endParaRPr/>
          </a:p>
        </p:txBody>
      </p:sp>
      <p:sp>
        <p:nvSpPr>
          <p:cNvPr id="567" name="Google Shape;567;p54"/>
          <p:cNvSpPr txBox="1"/>
          <p:nvPr/>
        </p:nvSpPr>
        <p:spPr>
          <a:xfrm>
            <a:off x="817480" y="1655401"/>
            <a:ext cx="6731700" cy="4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access object properties in two ways: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9306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objectName.propertyName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17500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objectName["propertyName"]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can also have methods.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are actions that can be performed on objects.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are stored in properties as function definitions.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9"/>
          <p:cNvSpPr txBox="1"/>
          <p:nvPr>
            <p:ph type="title"/>
          </p:nvPr>
        </p:nvSpPr>
        <p:spPr>
          <a:xfrm>
            <a:off x="721359" y="839791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Creating objects in JavaScript</a:t>
            </a:r>
            <a:endParaRPr/>
          </a:p>
        </p:txBody>
      </p:sp>
      <p:sp>
        <p:nvSpPr>
          <p:cNvPr id="573" name="Google Shape;573;p79"/>
          <p:cNvSpPr txBox="1"/>
          <p:nvPr>
            <p:ph idx="1" type="body"/>
          </p:nvPr>
        </p:nvSpPr>
        <p:spPr>
          <a:xfrm>
            <a:off x="609599" y="2160591"/>
            <a:ext cx="6347714" cy="2939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20"/>
              <a:buFont typeface="Trebuchet MS"/>
              <a:buAutoNum type="arabicPeriod"/>
            </a:pPr>
            <a:r>
              <a:rPr b="0" i="0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object literal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AutoNum type="arabicPeriod"/>
            </a:pPr>
            <a:r>
              <a:rPr b="0" i="0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creating instance of Object directly (using new keyword)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AutoNum type="arabicPeriod"/>
            </a:pPr>
            <a:r>
              <a:rPr b="0" i="0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an object constructor (using new keyword)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0"/>
          <p:cNvSpPr txBox="1"/>
          <p:nvPr>
            <p:ph type="title"/>
          </p:nvPr>
        </p:nvSpPr>
        <p:spPr>
          <a:xfrm>
            <a:off x="609598" y="0"/>
            <a:ext cx="6347713" cy="6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B38"/>
              </a:buClr>
              <a:buSzPct val="100000"/>
              <a:buFont typeface="Times New Roman"/>
              <a:buNone/>
            </a:pPr>
            <a:r>
              <a:rPr b="0" i="0" lang="en-US">
                <a:solidFill>
                  <a:srgbClr val="610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By creating instance of Object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80"/>
          <p:cNvSpPr txBox="1"/>
          <p:nvPr>
            <p:ph idx="1" type="body"/>
          </p:nvPr>
        </p:nvSpPr>
        <p:spPr>
          <a:xfrm>
            <a:off x="609598" y="782320"/>
            <a:ext cx="7080355" cy="5568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b="0" i="0" lang="en-US" sz="2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syntax of creating object directly is given below: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0" i="0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</a:t>
            </a:r>
            <a:r>
              <a:rPr b="0" i="0" lang="en-US" sz="2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objectname</a:t>
            </a:r>
            <a:r>
              <a:rPr b="0" i="0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r>
              <a:rPr b="0" i="0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Object();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US" sz="2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 </a:t>
            </a:r>
            <a:r>
              <a:rPr b="1" i="0" lang="en-US" sz="2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keyword</a:t>
            </a:r>
            <a:r>
              <a:rPr b="0" i="0" lang="en-US" sz="2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used to create object.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&lt;script&gt;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var emp=new Object();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emp.id=101;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emp.name="Ravi Joshi";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emp.salary=50000;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document.write(emp.id+" "+emp.name+" "+emp.salary);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&lt;/script&gt;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1"/>
          <p:cNvSpPr txBox="1"/>
          <p:nvPr>
            <p:ph type="title"/>
          </p:nvPr>
        </p:nvSpPr>
        <p:spPr>
          <a:xfrm>
            <a:off x="629919" y="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B38"/>
              </a:buClr>
              <a:buSzPts val="3600"/>
              <a:buFont typeface="Arial"/>
              <a:buNone/>
            </a:pPr>
            <a:r>
              <a:rPr b="0" i="0" lang="en-US">
                <a:solidFill>
                  <a:srgbClr val="610B38"/>
                </a:solidFill>
                <a:latin typeface="Arial"/>
                <a:ea typeface="Arial"/>
                <a:cs typeface="Arial"/>
                <a:sym typeface="Arial"/>
              </a:rPr>
              <a:t> By using an Object constructor</a:t>
            </a:r>
            <a:endParaRPr/>
          </a:p>
        </p:txBody>
      </p:sp>
      <p:sp>
        <p:nvSpPr>
          <p:cNvPr id="585" name="Google Shape;585;p81"/>
          <p:cNvSpPr txBox="1"/>
          <p:nvPr>
            <p:ph idx="1" type="body"/>
          </p:nvPr>
        </p:nvSpPr>
        <p:spPr>
          <a:xfrm>
            <a:off x="332115" y="538896"/>
            <a:ext cx="7247245" cy="6319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you need to create function with arguments. Each argument value can be assigned in the current object by using </a:t>
            </a:r>
            <a:r>
              <a:rPr b="1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</a:t>
            </a: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</a:t>
            </a:r>
            <a:r>
              <a:rPr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</a:t>
            </a: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refers to the current object. </a:t>
            </a: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 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emp(id,name,salary){ 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this.id=id; 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this.name=name; 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this.salary=salary;  } 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e=new emp(103,"Vimal Jaiswal",30000); 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document.write(e.id+" "+e.name+" "+e.salary); 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 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Javascript method</a:t>
            </a:r>
            <a:endParaRPr/>
          </a:p>
        </p:txBody>
      </p:sp>
      <p:sp>
        <p:nvSpPr>
          <p:cNvPr id="591" name="Google Shape;591;p82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getElementById()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GetElementsByClassName()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getElementsByName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getElementsByTagName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JS innerHTML property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3"/>
          <p:cNvSpPr txBox="1"/>
          <p:nvPr>
            <p:ph type="title"/>
          </p:nvPr>
        </p:nvSpPr>
        <p:spPr>
          <a:xfrm>
            <a:off x="609598" y="178216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2170C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6217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Document.getElementById()</a:t>
            </a:r>
            <a:endParaRPr/>
          </a:p>
        </p:txBody>
      </p:sp>
      <p:sp>
        <p:nvSpPr>
          <p:cNvPr id="597" name="Google Shape;597;p83"/>
          <p:cNvSpPr txBox="1"/>
          <p:nvPr>
            <p:ph idx="1" type="body"/>
          </p:nvPr>
        </p:nvSpPr>
        <p:spPr>
          <a:xfrm>
            <a:off x="406398" y="970696"/>
            <a:ext cx="7193282" cy="5231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document.getElementById()</a:t>
            </a:r>
            <a:r>
              <a:rPr b="0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method returns the element of specified id.                  </a:t>
            </a:r>
            <a:r>
              <a:rPr b="1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getbyID.html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0" i="0"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"Hello  JavaScript";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&lt;h2&gt;What Can JavaScript Do?&lt;/h2&gt;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&lt;p id="demo"&gt;JavaScript can change HTML content.&lt;/p&gt;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&lt;button type="button" onclick='document.getElementById("demo").innerHTML = "Hello JavaScript!"'&gt;Click Me!&lt;/button&gt;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/>
          </a:p>
          <a:p>
            <a:pPr indent="-265176" lvl="0" marL="3429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4"/>
          <p:cNvSpPr txBox="1"/>
          <p:nvPr>
            <p:ph type="title"/>
          </p:nvPr>
        </p:nvSpPr>
        <p:spPr>
          <a:xfrm>
            <a:off x="609599" y="309796"/>
            <a:ext cx="6347714" cy="67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B38"/>
              </a:buClr>
              <a:buSzPts val="3600"/>
              <a:buFont typeface="Times New Roman"/>
              <a:buNone/>
            </a:pPr>
            <a:r>
              <a:rPr b="0" i="0" lang="en-US">
                <a:solidFill>
                  <a:srgbClr val="610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document.getElementsByName()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84"/>
          <p:cNvSpPr txBox="1"/>
          <p:nvPr>
            <p:ph idx="1" type="body"/>
          </p:nvPr>
        </p:nvSpPr>
        <p:spPr>
          <a:xfrm>
            <a:off x="223520" y="802640"/>
            <a:ext cx="7467600" cy="605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This </a:t>
            </a:r>
            <a:r>
              <a:rPr b="0" i="0" lang="en-US" sz="8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returns all the element of specified name.            </a:t>
            </a:r>
            <a:r>
              <a:rPr b="1" i="0" lang="en-US" sz="8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Getbyname2.html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US" sz="8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: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document.getElementsByName("name")  …Example: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"text/javascript"</a:t>
            </a: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 totalelements()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allgenders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.getElementsByName("gender");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alert("Total Genders:"+allgenders.length);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&lt;form&gt;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Male:</a:t>
            </a: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"radio"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"gender"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"male"</a:t>
            </a: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Female:</a:t>
            </a: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"radio"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"gender"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"female"</a:t>
            </a: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"button"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onclick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"totalelements()"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n-US" sz="8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"Total Genders"</a:t>
            </a: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Font typeface="Trebuchet MS"/>
              <a:buAutoNum type="arabicPeriod"/>
            </a:pPr>
            <a:r>
              <a:rPr b="1" i="0" lang="en-US" sz="8000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&lt;/form&gt;</a:t>
            </a:r>
            <a:r>
              <a:rPr b="0" i="0"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5"/>
          <p:cNvSpPr txBox="1"/>
          <p:nvPr>
            <p:ph type="title"/>
          </p:nvPr>
        </p:nvSpPr>
        <p:spPr>
          <a:xfrm>
            <a:off x="434716" y="204866"/>
            <a:ext cx="7180288" cy="649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B38"/>
              </a:buClr>
              <a:buSzPts val="3600"/>
              <a:buFont typeface="Arial"/>
              <a:buNone/>
            </a:pPr>
            <a:r>
              <a:rPr b="0" i="0" lang="en-US">
                <a:solidFill>
                  <a:srgbClr val="610B38"/>
                </a:solidFill>
                <a:latin typeface="Arial"/>
                <a:ea typeface="Arial"/>
                <a:cs typeface="Arial"/>
                <a:sym typeface="Arial"/>
              </a:rPr>
              <a:t>document.getElementsByTagName() </a:t>
            </a:r>
            <a:endParaRPr/>
          </a:p>
        </p:txBody>
      </p:sp>
      <p:sp>
        <p:nvSpPr>
          <p:cNvPr id="609" name="Google Shape;609;p85"/>
          <p:cNvSpPr txBox="1"/>
          <p:nvPr>
            <p:ph idx="1" type="body"/>
          </p:nvPr>
        </p:nvSpPr>
        <p:spPr>
          <a:xfrm>
            <a:off x="434716" y="911901"/>
            <a:ext cx="7465103" cy="5741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This </a:t>
            </a:r>
            <a:r>
              <a:rPr b="0" i="0"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method returns all the element of specified tag name.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Syntax</a:t>
            </a:r>
            <a:r>
              <a:rPr b="1"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                      getbyTagName3.html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document.getElementsByTagName("name")  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AutoNum type="arabicPeriod"/>
            </a:pP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&lt;script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b="0" i="0" lang="en-US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type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=</a:t>
            </a:r>
            <a:r>
              <a:rPr b="0" i="0" lang="en-US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"text/javascript"</a:t>
            </a: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function counth2(){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var </a:t>
            </a:r>
            <a:r>
              <a:rPr b="0" i="0" lang="en-US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totalh2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=</a:t>
            </a:r>
            <a:r>
              <a:rPr b="0" i="0" lang="en-US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document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.getElementsByTagName("h2");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alert("total h2 tags are: "+totalh2.length);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}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AutoNum type="arabicPeriod"/>
            </a:pP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&lt;/script&gt;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AutoNum type="arabicPeriod"/>
            </a:pP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&lt;h2&gt;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 is h2 tag</a:t>
            </a: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&lt;/h2&gt;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AutoNum type="arabicPeriod"/>
            </a:pP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&lt;h2&gt;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 is h2 tag</a:t>
            </a: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&lt;/h2&gt;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AutoNum type="arabicPeriod"/>
            </a:pP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&lt;h3&gt;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 is h3 tag</a:t>
            </a: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&lt;/h3&gt;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 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AutoNum type="arabicPeriod"/>
            </a:pP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&lt;button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b="0" i="0" lang="en-US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onclick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=</a:t>
            </a:r>
            <a:r>
              <a:rPr b="0" i="0" lang="en-US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"counth2()"</a:t>
            </a: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count h2</a:t>
            </a:r>
            <a:r>
              <a:rPr b="1" i="0" lang="en-US">
                <a:solidFill>
                  <a:srgbClr val="006699"/>
                </a:solidFill>
                <a:latin typeface="Inter"/>
                <a:ea typeface="Inter"/>
                <a:cs typeface="Inter"/>
                <a:sym typeface="Inter"/>
              </a:rPr>
              <a:t>&lt;/button&gt;</a:t>
            </a: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 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5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5"/>
          <p:cNvSpPr txBox="1"/>
          <p:nvPr>
            <p:ph type="title"/>
          </p:nvPr>
        </p:nvSpPr>
        <p:spPr>
          <a:xfrm>
            <a:off x="1278630" y="702902"/>
            <a:ext cx="5026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Events</a:t>
            </a:r>
            <a:endParaRPr/>
          </a:p>
        </p:txBody>
      </p:sp>
      <p:sp>
        <p:nvSpPr>
          <p:cNvPr id="616" name="Google Shape;616;p55"/>
          <p:cNvSpPr txBox="1"/>
          <p:nvPr/>
        </p:nvSpPr>
        <p:spPr>
          <a:xfrm>
            <a:off x="274320" y="1332001"/>
            <a:ext cx="8394630" cy="3235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events are "things" that happen to HTML elements.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JavaScript is used in HTML pages, JavaScript can "react" on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events.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HTML event can be something the browser does, or something 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does.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are some examples of HTML events: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HTML web page has finished loading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HTML input field was changed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HTML button was clicked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7" name="Google Shape;617;p55"/>
          <p:cNvSpPr txBox="1"/>
          <p:nvPr/>
        </p:nvSpPr>
        <p:spPr>
          <a:xfrm>
            <a:off x="993450" y="4878000"/>
            <a:ext cx="73908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Often, when events happen, you may want to do something.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lets you execute code when events are detected.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55"/>
          <p:cNvSpPr txBox="1"/>
          <p:nvPr/>
        </p:nvSpPr>
        <p:spPr>
          <a:xfrm>
            <a:off x="7749920" y="6002223"/>
            <a:ext cx="147955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Common HTML Events</a:t>
            </a:r>
            <a:endParaRPr/>
          </a:p>
        </p:txBody>
      </p:sp>
      <p:sp>
        <p:nvSpPr>
          <p:cNvPr id="624" name="Google Shape;624;p56"/>
          <p:cNvSpPr txBox="1"/>
          <p:nvPr>
            <p:ph idx="1" type="body"/>
          </p:nvPr>
        </p:nvSpPr>
        <p:spPr>
          <a:xfrm>
            <a:off x="409210" y="1488613"/>
            <a:ext cx="7625517" cy="4759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0" i="0" lang="en-US">
                <a:solidFill>
                  <a:srgbClr val="610B4B"/>
                </a:solidFill>
                <a:latin typeface="Arial"/>
                <a:ea typeface="Arial"/>
                <a:cs typeface="Arial"/>
                <a:sym typeface="Arial"/>
              </a:rPr>
              <a:t>Mouse events: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625" name="Google Shape;625;p5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</a:pPr>
            <a:r>
              <a:rPr lang="en-US"/>
              <a:t>57</a:t>
            </a:r>
            <a:endParaRPr/>
          </a:p>
        </p:txBody>
      </p:sp>
      <p:pic>
        <p:nvPicPr>
          <p:cNvPr id="626" name="Google Shape;62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210" y="2211022"/>
            <a:ext cx="7835379" cy="3314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2" name="Google Shape;632;p86"/>
          <p:cNvSpPr txBox="1"/>
          <p:nvPr>
            <p:ph type="title"/>
          </p:nvPr>
        </p:nvSpPr>
        <p:spPr>
          <a:xfrm>
            <a:off x="1000126" y="609600"/>
            <a:ext cx="6447501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t/>
            </a:r>
            <a:endParaRPr/>
          </a:p>
        </p:txBody>
      </p:sp>
      <p:sp>
        <p:nvSpPr>
          <p:cNvPr id="633" name="Google Shape;633;p86"/>
          <p:cNvSpPr/>
          <p:nvPr/>
        </p:nvSpPr>
        <p:spPr>
          <a:xfrm rot="10800000">
            <a:off x="0" y="0"/>
            <a:ext cx="631947" cy="5666154"/>
          </a:xfrm>
          <a:prstGeom prst="triangle">
            <a:avLst>
              <a:gd fmla="val 100000" name="adj"/>
            </a:avLst>
          </a:prstGeom>
          <a:solidFill>
            <a:schemeClr val="accent1">
              <a:alpha val="85098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4" name="Google Shape;634;p86"/>
          <p:cNvSpPr txBox="1"/>
          <p:nvPr>
            <p:ph idx="1" type="body"/>
          </p:nvPr>
        </p:nvSpPr>
        <p:spPr>
          <a:xfrm>
            <a:off x="1000126" y="2160589"/>
            <a:ext cx="6447501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635" name="Google Shape;635;p86"/>
          <p:cNvSpPr/>
          <p:nvPr/>
        </p:nvSpPr>
        <p:spPr>
          <a:xfrm flipH="1">
            <a:off x="8807450" y="4013200"/>
            <a:ext cx="336550" cy="2844800"/>
          </a:xfrm>
          <a:prstGeom prst="triangle">
            <a:avLst>
              <a:gd fmla="val 0" name="adj"/>
            </a:avLst>
          </a:prstGeom>
          <a:solidFill>
            <a:schemeClr val="accent1">
              <a:alpha val="85098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36" name="Google Shape;636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029" y="1487777"/>
            <a:ext cx="7125694" cy="4553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B4B"/>
              </a:buClr>
              <a:buSzPts val="3600"/>
              <a:buFont typeface="Arial"/>
              <a:buNone/>
            </a:pPr>
            <a:r>
              <a:rPr b="0" i="0" lang="en-US">
                <a:solidFill>
                  <a:srgbClr val="610B4B"/>
                </a:solidFill>
                <a:latin typeface="Arial"/>
                <a:ea typeface="Arial"/>
                <a:cs typeface="Arial"/>
                <a:sym typeface="Arial"/>
              </a:rPr>
              <a:t>Click Event</a:t>
            </a:r>
            <a:endParaRPr/>
          </a:p>
        </p:txBody>
      </p:sp>
      <p:sp>
        <p:nvSpPr>
          <p:cNvPr id="642" name="Google Shape;642;p87"/>
          <p:cNvSpPr txBox="1"/>
          <p:nvPr>
            <p:ph idx="1" type="body"/>
          </p:nvPr>
        </p:nvSpPr>
        <p:spPr>
          <a:xfrm>
            <a:off x="404734" y="1409076"/>
            <a:ext cx="7495082" cy="5448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&lt;html&gt;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&lt;head&gt; Javascript Events &lt;/head&gt;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&lt;body&gt;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rgbClr val="0070C0"/>
                </a:solidFill>
              </a:rPr>
              <a:t>&lt;script language="Javascript" type="text/Javascript"&gt;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rgbClr val="0070C0"/>
                </a:solidFill>
              </a:rPr>
              <a:t>	function clickevent()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rgbClr val="0070C0"/>
                </a:solidFill>
              </a:rPr>
              <a:t>	{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rgbClr val="0070C0"/>
                </a:solidFill>
              </a:rPr>
              <a:t>		document.write("This is Javascript Event demo");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rgbClr val="0070C0"/>
                </a:solidFill>
              </a:rPr>
              <a:t>	}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rgbClr val="0070C0"/>
                </a:solidFill>
              </a:rPr>
              <a:t>	&lt;/script&gt;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&lt;form&gt;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&lt;input type="button" onclick="clickevent()" value=“Click here"/&gt;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&lt;/form&gt;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&lt;/body&gt;&lt;/html&gt;</a:t>
            </a:r>
            <a:endParaRPr/>
          </a:p>
          <a:p>
            <a:pPr indent="-251460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88"/>
          <p:cNvSpPr txBox="1"/>
          <p:nvPr>
            <p:ph type="title"/>
          </p:nvPr>
        </p:nvSpPr>
        <p:spPr>
          <a:xfrm>
            <a:off x="609599" y="534650"/>
            <a:ext cx="6347714" cy="649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Mouse over Event </a:t>
            </a:r>
            <a:endParaRPr/>
          </a:p>
        </p:txBody>
      </p:sp>
      <p:sp>
        <p:nvSpPr>
          <p:cNvPr id="648" name="Google Shape;648;p88"/>
          <p:cNvSpPr txBox="1"/>
          <p:nvPr>
            <p:ph idx="1" type="body"/>
          </p:nvPr>
        </p:nvSpPr>
        <p:spPr>
          <a:xfrm>
            <a:off x="609599" y="1454046"/>
            <a:ext cx="6915464" cy="5036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&lt;body&gt;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&lt;script type="text/Javascript"&gt;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     function mouseoverevent()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    {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        document.write("This is Mouse Over Event");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    }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&lt;/script&gt;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&lt;p onmouseover="mouseoverevent()"&gt; Keep cursor over me&lt;/p&gt;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&lt;/body&gt;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&lt;/html&gt; </a:t>
            </a:r>
            <a:endParaRPr/>
          </a:p>
        </p:txBody>
      </p:sp>
      <p:pic>
        <p:nvPicPr>
          <p:cNvPr id="649" name="Google Shape;649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1867" y="4999190"/>
            <a:ext cx="2391109" cy="132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3759" y="5123032"/>
            <a:ext cx="2314898" cy="1200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7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57"/>
          <p:cNvSpPr txBox="1"/>
          <p:nvPr>
            <p:ph type="title"/>
          </p:nvPr>
        </p:nvSpPr>
        <p:spPr>
          <a:xfrm>
            <a:off x="880200" y="436924"/>
            <a:ext cx="6151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What can JavaScript Do?</a:t>
            </a:r>
            <a:endParaRPr/>
          </a:p>
        </p:txBody>
      </p:sp>
      <p:sp>
        <p:nvSpPr>
          <p:cNvPr id="657" name="Google Shape;657;p57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58</a:t>
            </a:r>
            <a:endParaRPr/>
          </a:p>
        </p:txBody>
      </p:sp>
      <p:sp>
        <p:nvSpPr>
          <p:cNvPr id="658" name="Google Shape;658;p57"/>
          <p:cNvSpPr txBox="1"/>
          <p:nvPr/>
        </p:nvSpPr>
        <p:spPr>
          <a:xfrm>
            <a:off x="663815" y="1684745"/>
            <a:ext cx="7259459" cy="3488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handlers can be used to handle, and verify, user input, user actions, and browser actions: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should be done every time a page loads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should be done when the page is closed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1409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that should be performed when a user clicks a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that should be verified when a user inputs data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more ...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8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58"/>
          <p:cNvSpPr txBox="1"/>
          <p:nvPr>
            <p:ph type="title"/>
          </p:nvPr>
        </p:nvSpPr>
        <p:spPr>
          <a:xfrm>
            <a:off x="880197" y="664903"/>
            <a:ext cx="6151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What can JavaScript Do?</a:t>
            </a:r>
            <a:endParaRPr/>
          </a:p>
        </p:txBody>
      </p:sp>
      <p:sp>
        <p:nvSpPr>
          <p:cNvPr id="665" name="Google Shape;665;p58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59</a:t>
            </a:r>
            <a:endParaRPr/>
          </a:p>
        </p:txBody>
      </p:sp>
      <p:sp>
        <p:nvSpPr>
          <p:cNvPr id="666" name="Google Shape;666;p58"/>
          <p:cNvSpPr txBox="1"/>
          <p:nvPr/>
        </p:nvSpPr>
        <p:spPr>
          <a:xfrm>
            <a:off x="1051175" y="1430164"/>
            <a:ext cx="6916500" cy="410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different methods can be used to let JavaScript work with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events: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event attributes can execute JavaScript code directly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event attributes can call JavaScript functions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assign your own event handler functions to HTML elements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prevent events from being sent or being handled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more ...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1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61"/>
          <p:cNvSpPr txBox="1"/>
          <p:nvPr>
            <p:ph type="title"/>
          </p:nvPr>
        </p:nvSpPr>
        <p:spPr>
          <a:xfrm>
            <a:off x="962675" y="607903"/>
            <a:ext cx="69126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74950" lvl="0" marL="27870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JavaScript Errors - Throw and Try to  Catch</a:t>
            </a:r>
            <a:endParaRPr sz="3600"/>
          </a:p>
        </p:txBody>
      </p:sp>
      <p:sp>
        <p:nvSpPr>
          <p:cNvPr id="673" name="Google Shape;673;p6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62</a:t>
            </a:r>
            <a:endParaRPr/>
          </a:p>
        </p:txBody>
      </p:sp>
      <p:sp>
        <p:nvSpPr>
          <p:cNvPr id="674" name="Google Shape;674;p61"/>
          <p:cNvSpPr txBox="1"/>
          <p:nvPr/>
        </p:nvSpPr>
        <p:spPr>
          <a:xfrm>
            <a:off x="1069650" y="1841688"/>
            <a:ext cx="6912600" cy="41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</a:t>
            </a: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test a block of code for errors.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 </a:t>
            </a: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handle the error.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 </a:t>
            </a: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create custom errors.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 </a:t>
            </a: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execute code, after try and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catch, regardless of the result.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executing JavaScript code, different errors can occur.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 can be coding errors made by the programmer, errors  due to wrong input, and other unforeseeable things.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62"/>
          <p:cNvSpPr txBox="1"/>
          <p:nvPr>
            <p:ph type="title"/>
          </p:nvPr>
        </p:nvSpPr>
        <p:spPr>
          <a:xfrm>
            <a:off x="209863" y="216673"/>
            <a:ext cx="821461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74950" lvl="0" marL="27870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JavaScript Errors - Throw and Try to  Catch</a:t>
            </a:r>
            <a:endParaRPr sz="3600"/>
          </a:p>
        </p:txBody>
      </p:sp>
      <p:sp>
        <p:nvSpPr>
          <p:cNvPr id="681" name="Google Shape;681;p6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63</a:t>
            </a:r>
            <a:endParaRPr/>
          </a:p>
        </p:txBody>
      </p:sp>
      <p:sp>
        <p:nvSpPr>
          <p:cNvPr id="682" name="Google Shape;682;p62"/>
          <p:cNvSpPr txBox="1"/>
          <p:nvPr/>
        </p:nvSpPr>
        <p:spPr>
          <a:xfrm>
            <a:off x="639720" y="783495"/>
            <a:ext cx="7084800" cy="5689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95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Example&lt;!DOCTYPE html&gt;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&lt;h2&gt;JavaScript Error Handling&lt;/h2&gt;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id="demo"&gt;&lt;/p&gt;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{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adddlert("Welcome guest!");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catch(err) {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document.getElementById("demo").innerHTML = err.message;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&lt;/script&gt;&lt;/body&gt;&lt;/html&gt;</a:t>
            </a:r>
            <a:endParaRPr/>
          </a:p>
          <a:p>
            <a:pPr indent="-112394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3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3"/>
          <p:cNvSpPr txBox="1"/>
          <p:nvPr>
            <p:ph type="title"/>
          </p:nvPr>
        </p:nvSpPr>
        <p:spPr>
          <a:xfrm>
            <a:off x="751974" y="645903"/>
            <a:ext cx="7044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Throws Errors, finally</a:t>
            </a:r>
            <a:endParaRPr/>
          </a:p>
        </p:txBody>
      </p:sp>
      <p:sp>
        <p:nvSpPr>
          <p:cNvPr id="689" name="Google Shape;689;p63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64</a:t>
            </a:r>
            <a:endParaRPr/>
          </a:p>
        </p:txBody>
      </p:sp>
      <p:sp>
        <p:nvSpPr>
          <p:cNvPr id="690" name="Google Shape;690;p63"/>
          <p:cNvSpPr txBox="1"/>
          <p:nvPr/>
        </p:nvSpPr>
        <p:spPr>
          <a:xfrm>
            <a:off x="830416" y="2474198"/>
            <a:ext cx="7044600" cy="3429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139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error occurs, JavaScript will normally stop and  generate an error message.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310515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technical term for this is: JavaScript will </a:t>
            </a:r>
            <a:r>
              <a:rPr b="1"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 an  exception (throw an error)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will actually create an Error object with two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properties: name and message.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 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execute code, after try and catch, regardless of the result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4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64"/>
          <p:cNvSpPr txBox="1"/>
          <p:nvPr>
            <p:ph type="title"/>
          </p:nvPr>
        </p:nvSpPr>
        <p:spPr>
          <a:xfrm>
            <a:off x="804228" y="740902"/>
            <a:ext cx="5911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Debugging</a:t>
            </a:r>
            <a:endParaRPr/>
          </a:p>
        </p:txBody>
      </p:sp>
      <p:sp>
        <p:nvSpPr>
          <p:cNvPr id="697" name="Google Shape;697;p64"/>
          <p:cNvSpPr txBox="1"/>
          <p:nvPr/>
        </p:nvSpPr>
        <p:spPr>
          <a:xfrm>
            <a:off x="7749920" y="6019912"/>
            <a:ext cx="147955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8" name="Google Shape;698;p64"/>
          <p:cNvSpPr txBox="1"/>
          <p:nvPr/>
        </p:nvSpPr>
        <p:spPr>
          <a:xfrm>
            <a:off x="933900" y="1823586"/>
            <a:ext cx="7276200" cy="39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Debugging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14166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code might contain syntax  errors, or logical errors.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just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of these errors are difficult to diagnose.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7620" rtl="0" algn="just">
              <a:lnSpc>
                <a:spcPct val="90100"/>
              </a:lnSpc>
              <a:spcBef>
                <a:spcPts val="117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Often, when programming code contains errors, nothing  will happen. There are no error messages, and you will get  no indications where to search for errors.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715" rtl="0" algn="just">
              <a:lnSpc>
                <a:spcPct val="107916"/>
              </a:lnSpc>
              <a:spcBef>
                <a:spcPts val="122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 for (and fixing) errors in programming code is  called code debugging.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5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65"/>
          <p:cNvSpPr txBox="1"/>
          <p:nvPr>
            <p:ph type="title"/>
          </p:nvPr>
        </p:nvSpPr>
        <p:spPr>
          <a:xfrm>
            <a:off x="614254" y="892876"/>
            <a:ext cx="6102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Debugging</a:t>
            </a:r>
            <a:endParaRPr/>
          </a:p>
        </p:txBody>
      </p:sp>
      <p:sp>
        <p:nvSpPr>
          <p:cNvPr id="705" name="Google Shape;705;p65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66</a:t>
            </a:r>
            <a:endParaRPr/>
          </a:p>
        </p:txBody>
      </p:sp>
      <p:sp>
        <p:nvSpPr>
          <p:cNvPr id="706" name="Google Shape;706;p65"/>
          <p:cNvSpPr txBox="1"/>
          <p:nvPr/>
        </p:nvSpPr>
        <p:spPr>
          <a:xfrm>
            <a:off x="1089175" y="1842725"/>
            <a:ext cx="7144500" cy="3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Debuggers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12065" rtl="0" algn="just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Debugging is not easy. But fortunately, all modern  browsers have a built-in JavaScript debugger.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9525" rtl="0" algn="just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Built-in debuggers can be turned on and off, forcing  errors to be reported to the user.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just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 debugger, you can also set breakpoints (places  where code execution can be stopped), and examine  variables while the code is executing.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6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66"/>
          <p:cNvSpPr txBox="1"/>
          <p:nvPr>
            <p:ph type="title"/>
          </p:nvPr>
        </p:nvSpPr>
        <p:spPr>
          <a:xfrm>
            <a:off x="993443" y="854877"/>
            <a:ext cx="4963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713" name="Google Shape;713;p66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67</a:t>
            </a:r>
            <a:endParaRPr/>
          </a:p>
        </p:txBody>
      </p:sp>
      <p:sp>
        <p:nvSpPr>
          <p:cNvPr id="714" name="Google Shape;714;p66"/>
          <p:cNvSpPr txBox="1"/>
          <p:nvPr/>
        </p:nvSpPr>
        <p:spPr>
          <a:xfrm>
            <a:off x="993450" y="1690974"/>
            <a:ext cx="6663000" cy="4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global variables, avoid new, avoid ==, avoid eval()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Global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 the use of global variables.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includes all data types, objects, and functions.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12065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variables and functions can be overwritten by  other scripts.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local variables instead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7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67"/>
          <p:cNvSpPr txBox="1"/>
          <p:nvPr>
            <p:ph type="title"/>
          </p:nvPr>
        </p:nvSpPr>
        <p:spPr>
          <a:xfrm>
            <a:off x="1278619" y="873877"/>
            <a:ext cx="4678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721" name="Google Shape;721;p67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68</a:t>
            </a:r>
            <a:endParaRPr/>
          </a:p>
        </p:txBody>
      </p:sp>
      <p:sp>
        <p:nvSpPr>
          <p:cNvPr id="722" name="Google Shape;722;p67"/>
          <p:cNvSpPr txBox="1"/>
          <p:nvPr/>
        </p:nvSpPr>
        <p:spPr>
          <a:xfrm>
            <a:off x="1027107" y="1861508"/>
            <a:ext cx="7089900" cy="3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Declare Local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just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variables used in a function should be declared as  local variables.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7620" rtl="0" algn="just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variables must be declared with the var keyword or  the let keyword, otherwise they will become global  variables.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just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Strict mode does not allow undeclared variables.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8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68"/>
          <p:cNvSpPr txBox="1"/>
          <p:nvPr>
            <p:ph type="title"/>
          </p:nvPr>
        </p:nvSpPr>
        <p:spPr>
          <a:xfrm>
            <a:off x="1374119" y="873877"/>
            <a:ext cx="4582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729" name="Google Shape;729;p68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69</a:t>
            </a:r>
            <a:endParaRPr/>
          </a:p>
        </p:txBody>
      </p:sp>
      <p:sp>
        <p:nvSpPr>
          <p:cNvPr id="730" name="Google Shape;730;p68"/>
          <p:cNvSpPr txBox="1"/>
          <p:nvPr/>
        </p:nvSpPr>
        <p:spPr>
          <a:xfrm>
            <a:off x="1032175" y="1502974"/>
            <a:ext cx="6735300" cy="4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Declarations on Top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7954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good coding practice to put all declarations at the top of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script or function.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will: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cleaner code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single place to look for local variables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it easier to avoid unwanted (implied) global variables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possibility of unwanted re-declarations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JavaScript moves all declarations to the top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9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9"/>
          <p:cNvSpPr txBox="1"/>
          <p:nvPr>
            <p:ph type="title"/>
          </p:nvPr>
        </p:nvSpPr>
        <p:spPr>
          <a:xfrm>
            <a:off x="1089168" y="778878"/>
            <a:ext cx="4867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737" name="Google Shape;737;p69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70</a:t>
            </a:r>
            <a:endParaRPr/>
          </a:p>
        </p:txBody>
      </p:sp>
      <p:sp>
        <p:nvSpPr>
          <p:cNvPr id="738" name="Google Shape;738;p69"/>
          <p:cNvSpPr txBox="1"/>
          <p:nvPr/>
        </p:nvSpPr>
        <p:spPr>
          <a:xfrm>
            <a:off x="1089175" y="1484173"/>
            <a:ext cx="6823800" cy="3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good coding practice to initialize variables when you  declare them.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will: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cleaner code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single place to initialize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undefined values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0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70"/>
          <p:cNvSpPr txBox="1"/>
          <p:nvPr>
            <p:ph type="title"/>
          </p:nvPr>
        </p:nvSpPr>
        <p:spPr>
          <a:xfrm>
            <a:off x="1830071" y="873877"/>
            <a:ext cx="4126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745" name="Google Shape;745;p70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71</a:t>
            </a:r>
            <a:endParaRPr/>
          </a:p>
        </p:txBody>
      </p:sp>
      <p:sp>
        <p:nvSpPr>
          <p:cNvPr id="746" name="Google Shape;746;p70"/>
          <p:cNvSpPr txBox="1"/>
          <p:nvPr/>
        </p:nvSpPr>
        <p:spPr>
          <a:xfrm>
            <a:off x="993444" y="2410183"/>
            <a:ext cx="6796405" cy="224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 Declare Number, String, or Boolean Objects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7239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treat numbers, strings, or booleans as primitive  values. Not as objects.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 these types as objects, slows down execution  speed, and produces nasty side effects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71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71"/>
          <p:cNvSpPr txBox="1"/>
          <p:nvPr>
            <p:ph type="title"/>
          </p:nvPr>
        </p:nvSpPr>
        <p:spPr>
          <a:xfrm>
            <a:off x="993443" y="816877"/>
            <a:ext cx="4963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753" name="Google Shape;753;p71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72</a:t>
            </a:r>
            <a:endParaRPr/>
          </a:p>
        </p:txBody>
      </p:sp>
      <p:sp>
        <p:nvSpPr>
          <p:cNvPr id="754" name="Google Shape;754;p71"/>
          <p:cNvSpPr txBox="1"/>
          <p:nvPr/>
        </p:nvSpPr>
        <p:spPr>
          <a:xfrm>
            <a:off x="866457" y="1745217"/>
            <a:ext cx="5125200" cy="4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Don't Use new Object()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{} instead of new Object()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"" instead of new String()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0 instead of new Number()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false instead of new Boolean()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[] instead of new Array()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/()/ instead of new RegExp()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function (){} instead of new Function()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72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72"/>
          <p:cNvSpPr txBox="1"/>
          <p:nvPr>
            <p:ph type="title"/>
          </p:nvPr>
        </p:nvSpPr>
        <p:spPr>
          <a:xfrm>
            <a:off x="993443" y="873877"/>
            <a:ext cx="4963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761" name="Google Shape;761;p72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73</a:t>
            </a:r>
            <a:endParaRPr/>
          </a:p>
        </p:txBody>
      </p:sp>
      <p:sp>
        <p:nvSpPr>
          <p:cNvPr id="762" name="Google Shape;762;p72"/>
          <p:cNvSpPr txBox="1"/>
          <p:nvPr/>
        </p:nvSpPr>
        <p:spPr>
          <a:xfrm>
            <a:off x="993444" y="2500629"/>
            <a:ext cx="455739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Don't Use new Object(): Examples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p72"/>
          <p:cNvSpPr txBox="1"/>
          <p:nvPr/>
        </p:nvSpPr>
        <p:spPr>
          <a:xfrm>
            <a:off x="993444" y="3016122"/>
            <a:ext cx="1699260" cy="222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x1 = {};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x2 = "";  var x3 = 0;  var x4 = false;  var x5 = [];  var x6 = /()/;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4" name="Google Shape;764;p72"/>
          <p:cNvSpPr txBox="1"/>
          <p:nvPr/>
        </p:nvSpPr>
        <p:spPr>
          <a:xfrm>
            <a:off x="3140201" y="3016122"/>
            <a:ext cx="3175635" cy="222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03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object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46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primitive string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73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primitive number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498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primitive boolean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array object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97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regexp object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72"/>
          <p:cNvSpPr txBox="1"/>
          <p:nvPr/>
        </p:nvSpPr>
        <p:spPr>
          <a:xfrm>
            <a:off x="993444" y="5211571"/>
            <a:ext cx="54610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x7 = function(){}; // new function object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9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9"/>
          <p:cNvSpPr txBox="1"/>
          <p:nvPr>
            <p:ph type="title"/>
          </p:nvPr>
        </p:nvSpPr>
        <p:spPr>
          <a:xfrm>
            <a:off x="861200" y="550926"/>
            <a:ext cx="5831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 sz="3600"/>
              <a:t>JavaScript Date Objects</a:t>
            </a:r>
            <a:endParaRPr sz="3600"/>
          </a:p>
        </p:txBody>
      </p:sp>
      <p:sp>
        <p:nvSpPr>
          <p:cNvPr id="772" name="Google Shape;772;p59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60</a:t>
            </a:r>
            <a:endParaRPr/>
          </a:p>
        </p:txBody>
      </p:sp>
      <p:sp>
        <p:nvSpPr>
          <p:cNvPr id="773" name="Google Shape;773;p59"/>
          <p:cNvSpPr txBox="1"/>
          <p:nvPr/>
        </p:nvSpPr>
        <p:spPr>
          <a:xfrm>
            <a:off x="690225" y="1117925"/>
            <a:ext cx="7557600" cy="50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new Date()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d = new Date();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 Aug 17 2019 18:46:55 GMT+0530 (India Standard Time)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objects are created with the new Date() constructor.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4 ways to create a new date object: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Date(year, month, day, hours, minutes, seconds, milliseconds)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Date(milliseconds)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Date(date string)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0"/>
          <p:cNvSpPr/>
          <p:nvPr/>
        </p:nvSpPr>
        <p:spPr>
          <a:xfrm>
            <a:off x="1278636" y="2357627"/>
            <a:ext cx="6596380" cy="0"/>
          </a:xfrm>
          <a:custGeom>
            <a:rect b="b" l="l" r="r" t="t"/>
            <a:pathLst>
              <a:path extrusionOk="0" h="120000" w="659638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cap="flat" cmpd="sng" w="15225">
            <a:solidFill>
              <a:srgbClr val="839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60"/>
          <p:cNvSpPr txBox="1"/>
          <p:nvPr>
            <p:ph type="title"/>
          </p:nvPr>
        </p:nvSpPr>
        <p:spPr>
          <a:xfrm>
            <a:off x="766226" y="664903"/>
            <a:ext cx="6223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Times New Roman"/>
              <a:buNone/>
            </a:pPr>
            <a:r>
              <a:rPr lang="en-US"/>
              <a:t>JavaScript Date Formats</a:t>
            </a:r>
            <a:endParaRPr/>
          </a:p>
        </p:txBody>
      </p:sp>
      <p:sp>
        <p:nvSpPr>
          <p:cNvPr id="780" name="Google Shape;780;p60"/>
          <p:cNvSpPr txBox="1"/>
          <p:nvPr>
            <p:ph idx="12" type="sldNum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/>
              <a:t>61</a:t>
            </a:r>
            <a:endParaRPr/>
          </a:p>
        </p:txBody>
      </p:sp>
      <p:sp>
        <p:nvSpPr>
          <p:cNvPr id="781" name="Google Shape;781;p60"/>
          <p:cNvSpPr txBox="1"/>
          <p:nvPr/>
        </p:nvSpPr>
        <p:spPr>
          <a:xfrm>
            <a:off x="1278622" y="1906046"/>
            <a:ext cx="63336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Date Input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299085" marR="50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generally 3 types of JavaScript date input  formats: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82" name="Google Shape;782;p60"/>
          <p:cNvGraphicFramePr/>
          <p:nvPr/>
        </p:nvGraphicFramePr>
        <p:xfrm>
          <a:off x="1171575" y="3881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{8B0A126C-DCAF-4070-844D-0827E0D11744}</a:tableStyleId>
              </a:tblPr>
              <a:tblGrid>
                <a:gridCol w="1590050"/>
                <a:gridCol w="5311775"/>
              </a:tblGrid>
              <a:tr h="4855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55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 Date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"2015-03-25" (The International Standard)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855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Short Date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"03/25/2015"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5525">
                <a:tc>
                  <a:txBody>
                    <a:bodyPr/>
                    <a:lstStyle/>
                    <a:p>
                      <a:pPr indent="0" lvl="0" marL="1200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 Date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"Mar 25 2015" or "25 Mar 2015"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675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2022-02-14T05:25:08Z</dcterms:created>
  <dc:creator>cjyuan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2022-02-14T00:00:00Z</vt:filetime>
  </property>
</Properties>
</file>